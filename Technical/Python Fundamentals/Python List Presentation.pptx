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Python, a list is a built-in data structure that can hold an ordered collection of items in a single variable. A list can contain different types of data, such as numbers, strings, or even other lists. Lists are written using square brackets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lists when we need to store multiple values together. Instead of creating separate variables for every item, we can store all the items in one list. Lists also allow us to easily add, remove, and change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create a list, we put the required items inside square brackets and separate them with commas.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access an item using its index. The index starts from zero, so the first item has index 0. Yes, lists are mutable, which means we can change their elements after creating the list. So, in simple words, a list helps us store and manage multiple values in one place. It is easy to create, access, modify, and organize, which makes it very useful in programming.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8FAF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698500"/>
            <a:ext cx="10566400" cy="474927"/>
          </a:xfrm>
          <a:prstGeom prst="rect">
            <a:avLst/>
          </a:prstGeom>
          <a:noFill/>
          <a:ln/>
        </p:spPr>
        <p:txBody>
          <a:bodyPr wrap="square" lIns="0" tIns="0" rIns="0" bIns="0" rtlCol="0" anchor="t"/>
          <a:lstStyle>
            <a:lvl1pPr algn="l" indent="0" marL="0">
              <a:lnSpc>
                <a:spcPct val="115000"/>
              </a:lnSpc>
              <a:buNone/>
              <a:defRPr lang="en-US" sz="3400" dirty="0">
                <a:solidFill>
                  <a:srgbClr val="0F172A"/>
                </a:solidFill>
                <a:latin typeface="Arial" pitchFamily="34" charset="0"/>
                <a:ea typeface="Arial" pitchFamily="34" charset="-122"/>
                <a:cs typeface="Arial"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800" y="1478227"/>
            <a:ext cx="10566400" cy="4566973"/>
          </a:xfrm>
          <a:prstGeom prst="rect">
            <a:avLst/>
          </a:prstGeom>
          <a:noFill/>
          <a:ln/>
        </p:spPr>
        <p:txBody>
          <a:bodyPr wrap="square" lIns="0" tIns="0" rIns="0" bIns="0" rtlCol="0" anchor="t"/>
          <a:lstStyle>
            <a:lvl1pPr algn="l" indent="0" marL="0">
              <a:lnSpc>
                <a:spcPct val="140000"/>
              </a:lnSpc>
              <a:buNone/>
              <a:defRPr lang="en-US" sz="1600" dirty="0">
                <a:solidFill>
                  <a:srgbClr val="0F172A"/>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AF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698500"/>
            <a:ext cx="10566400" cy="474927"/>
          </a:xfrm>
          <a:prstGeom prst="rect">
            <a:avLst/>
          </a:prstGeom>
          <a:noFill/>
          <a:ln/>
        </p:spPr>
        <p:txBody>
          <a:bodyPr wrap="square" lIns="0" tIns="0" rIns="0" bIns="0" rtlCol="0" anchor="t"/>
          <a:lstStyle>
            <a:lvl1pPr algn="l" indent="0" marL="0">
              <a:lnSpc>
                <a:spcPct val="115000"/>
              </a:lnSpc>
              <a:buNone/>
              <a:defRPr lang="en-US" sz="3400" dirty="0">
                <a:solidFill>
                  <a:srgbClr val="0F172A"/>
                </a:solidFill>
                <a:latin typeface="Arial" pitchFamily="34" charset="0"/>
                <a:ea typeface="Arial" pitchFamily="34" charset="-122"/>
                <a:cs typeface="Arial"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800" y="1478227"/>
            <a:ext cx="10566400" cy="4566973"/>
          </a:xfrm>
          <a:prstGeom prst="rect">
            <a:avLst/>
          </a:prstGeom>
          <a:noFill/>
          <a:ln/>
        </p:spPr>
        <p:txBody>
          <a:bodyPr wrap="square" lIns="0" tIns="0" rIns="0" bIns="0" rtlCol="0" anchor="t"/>
          <a:lstStyle>
            <a:lvl1pPr algn="l" indent="0" marL="0">
              <a:lnSpc>
                <a:spcPct val="140000"/>
              </a:lnSpc>
              <a:buNone/>
              <a:defRPr lang="en-US" sz="1600" dirty="0">
                <a:solidFill>
                  <a:srgbClr val="0F172A"/>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ph type="title"/>
          </p:nvPr>
        </p:nvSpPr>
        <p:spPr>
          <a:xfrm>
            <a:off x="2154800" y="2825750"/>
            <a:ext cx="7882335" cy="1231900"/>
          </a:xfrm>
          <a:prstGeom prst="rect">
            <a:avLst/>
          </a:prstGeom>
          <a:noFill/>
          <a:ln/>
        </p:spPr>
        <p:txBody>
          <a:bodyPr wrap="square" lIns="0" tIns="0" rIns="0" bIns="0" rtlCol="0" anchor="t">
            <a:normAutofit/>
          </a:bodyPr>
          <a:lstStyle/>
          <a:p>
            <a:pPr algn="ctr" indent="0" marL="0">
              <a:lnSpc>
                <a:spcPts val="9500"/>
              </a:lnSpc>
              <a:buNone/>
            </a:pPr>
            <a:r>
              <a:rPr lang="en-US" sz="9500" b="1" i="0" dirty="0">
                <a:solidFill>
                  <a:srgbClr val="F8FAFC"/>
                </a:solidFill>
                <a:latin typeface="Arial" pitchFamily="34" charset="0"/>
                <a:ea typeface="Arial" pitchFamily="34" charset="-122"/>
                <a:cs typeface="Arial" pitchFamily="34" charset="-120"/>
              </a:rPr>
              <a:t>Python List</a:t>
            </a:r>
            <a:endParaRPr lang="en-US" sz="9500" dirty="0"/>
          </a:p>
        </p:txBody>
      </p:sp>
      <p:sp>
        <p:nvSpPr>
          <p:cNvPr id="3" name="Text 1"/>
          <p:cNvSpPr/>
          <p:nvPr/>
        </p:nvSpPr>
        <p:spPr>
          <a:xfrm>
            <a:off x="9750187" y="4226785"/>
            <a:ext cx="1629013" cy="256514"/>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FFD43B"/>
                </a:solidFill>
                <a:latin typeface="Arial" pitchFamily="34" charset="0"/>
                <a:ea typeface="Arial" pitchFamily="34" charset="-122"/>
                <a:cs typeface="Arial" pitchFamily="34" charset="-120"/>
              </a:rPr>
              <a:t>TEAM MEMBERS</a:t>
            </a:r>
            <a:endParaRPr lang="en-US" sz="1300" dirty="0"/>
          </a:p>
        </p:txBody>
      </p:sp>
      <p:sp>
        <p:nvSpPr>
          <p:cNvPr id="4" name="Text 2"/>
          <p:cNvSpPr/>
          <p:nvPr/>
        </p:nvSpPr>
        <p:spPr>
          <a:xfrm>
            <a:off x="9060339" y="4534098"/>
            <a:ext cx="2318861" cy="327620"/>
          </a:xfrm>
          <a:prstGeom prst="rect">
            <a:avLst/>
          </a:prstGeom>
          <a:noFill/>
          <a:ln/>
        </p:spPr>
        <p:txBody>
          <a:bodyPr wrap="square" lIns="0" tIns="0" rIns="0" bIns="0" rtlCol="0" anchor="t">
            <a:normAutofit/>
          </a:bodyPr>
          <a:lstStyle/>
          <a:p>
            <a:pPr algn="r" indent="0" marL="0">
              <a:lnSpc>
                <a:spcPts val="2380"/>
              </a:lnSpc>
              <a:buNone/>
            </a:pPr>
            <a:r>
              <a:rPr lang="en-US" sz="1700" dirty="0">
                <a:solidFill>
                  <a:srgbClr val="F8FAFC"/>
                </a:solidFill>
                <a:latin typeface="Arial" pitchFamily="34" charset="0"/>
                <a:ea typeface="Arial" pitchFamily="34" charset="-122"/>
                <a:cs typeface="Arial" pitchFamily="34" charset="-120"/>
              </a:rPr>
              <a:t>Anuradha Shivastav</a:t>
            </a:r>
            <a:endParaRPr lang="en-US" sz="1700" dirty="0"/>
          </a:p>
        </p:txBody>
      </p:sp>
      <p:sp>
        <p:nvSpPr>
          <p:cNvPr id="5" name="Text 3"/>
          <p:cNvSpPr/>
          <p:nvPr/>
        </p:nvSpPr>
        <p:spPr>
          <a:xfrm>
            <a:off x="9688831" y="4912519"/>
            <a:ext cx="1690370" cy="327620"/>
          </a:xfrm>
          <a:prstGeom prst="rect">
            <a:avLst/>
          </a:prstGeom>
          <a:noFill/>
          <a:ln/>
        </p:spPr>
        <p:txBody>
          <a:bodyPr wrap="square" lIns="0" tIns="0" rIns="0" bIns="0" rtlCol="0" anchor="t">
            <a:normAutofit/>
          </a:bodyPr>
          <a:lstStyle/>
          <a:p>
            <a:pPr algn="r" indent="0" marL="0">
              <a:lnSpc>
                <a:spcPts val="2380"/>
              </a:lnSpc>
              <a:buNone/>
            </a:pPr>
            <a:r>
              <a:rPr lang="en-US" sz="1700" dirty="0">
                <a:solidFill>
                  <a:srgbClr val="F8FAFC"/>
                </a:solidFill>
                <a:latin typeface="Arial" pitchFamily="34" charset="0"/>
                <a:ea typeface="Arial" pitchFamily="34" charset="-122"/>
                <a:cs typeface="Arial" pitchFamily="34" charset="-120"/>
              </a:rPr>
              <a:t>Yogita Chohan</a:t>
            </a:r>
            <a:endParaRPr lang="en-US" sz="1700" dirty="0"/>
          </a:p>
        </p:txBody>
      </p:sp>
      <p:sp>
        <p:nvSpPr>
          <p:cNvPr id="6" name="Text 4"/>
          <p:cNvSpPr/>
          <p:nvPr/>
        </p:nvSpPr>
        <p:spPr>
          <a:xfrm>
            <a:off x="9684544" y="5290939"/>
            <a:ext cx="1694656" cy="327620"/>
          </a:xfrm>
          <a:prstGeom prst="rect">
            <a:avLst/>
          </a:prstGeom>
          <a:noFill/>
          <a:ln/>
        </p:spPr>
        <p:txBody>
          <a:bodyPr wrap="square" lIns="0" tIns="0" rIns="0" bIns="0" rtlCol="0" anchor="t">
            <a:normAutofit/>
          </a:bodyPr>
          <a:lstStyle/>
          <a:p>
            <a:pPr algn="r" indent="0" marL="0">
              <a:lnSpc>
                <a:spcPts val="2380"/>
              </a:lnSpc>
              <a:buNone/>
            </a:pPr>
            <a:r>
              <a:rPr lang="en-US" sz="1700" dirty="0">
                <a:solidFill>
                  <a:srgbClr val="F8FAFC"/>
                </a:solidFill>
                <a:latin typeface="Arial" pitchFamily="34" charset="0"/>
                <a:ea typeface="Arial" pitchFamily="34" charset="-122"/>
                <a:cs typeface="Arial" pitchFamily="34" charset="-120"/>
              </a:rPr>
              <a:t>Kashish Visnoi</a:t>
            </a:r>
            <a:endParaRPr lang="en-US" sz="1700" dirty="0"/>
          </a:p>
        </p:txBody>
      </p:sp>
      <p:sp>
        <p:nvSpPr>
          <p:cNvPr id="7" name="Text 5"/>
          <p:cNvSpPr/>
          <p:nvPr/>
        </p:nvSpPr>
        <p:spPr>
          <a:xfrm>
            <a:off x="9511983" y="5669359"/>
            <a:ext cx="1867218" cy="327620"/>
          </a:xfrm>
          <a:prstGeom prst="rect">
            <a:avLst/>
          </a:prstGeom>
          <a:noFill/>
          <a:ln/>
        </p:spPr>
        <p:txBody>
          <a:bodyPr wrap="square" lIns="0" tIns="0" rIns="0" bIns="0" rtlCol="0" anchor="t">
            <a:normAutofit/>
          </a:bodyPr>
          <a:lstStyle/>
          <a:p>
            <a:pPr algn="r" indent="0" marL="0">
              <a:lnSpc>
                <a:spcPts val="2380"/>
              </a:lnSpc>
              <a:buNone/>
            </a:pPr>
            <a:r>
              <a:rPr lang="en-US" sz="1700" dirty="0">
                <a:solidFill>
                  <a:srgbClr val="F8FAFC"/>
                </a:solidFill>
                <a:latin typeface="Arial" pitchFamily="34" charset="0"/>
                <a:ea typeface="Arial" pitchFamily="34" charset="-122"/>
                <a:cs typeface="Arial" pitchFamily="34" charset="-120"/>
              </a:rPr>
              <a:t>Rudraksh Tawar</a:t>
            </a:r>
            <a:endParaRPr lang="en-US" sz="1700" dirty="0"/>
          </a:p>
        </p:txBody>
      </p:sp>
      <p:sp>
        <p:nvSpPr>
          <p:cNvPr id="8" name="Text 6"/>
          <p:cNvSpPr/>
          <p:nvPr/>
        </p:nvSpPr>
        <p:spPr>
          <a:xfrm>
            <a:off x="9881712" y="6047780"/>
            <a:ext cx="1497489" cy="327620"/>
          </a:xfrm>
          <a:prstGeom prst="rect">
            <a:avLst/>
          </a:prstGeom>
          <a:noFill/>
          <a:ln/>
        </p:spPr>
        <p:txBody>
          <a:bodyPr wrap="square" lIns="0" tIns="0" rIns="0" bIns="0" rtlCol="0" anchor="t">
            <a:normAutofit/>
          </a:bodyPr>
          <a:lstStyle/>
          <a:p>
            <a:pPr algn="r" indent="0" marL="0">
              <a:lnSpc>
                <a:spcPts val="2380"/>
              </a:lnSpc>
              <a:buNone/>
            </a:pPr>
            <a:r>
              <a:rPr lang="en-US" sz="1700" dirty="0">
                <a:solidFill>
                  <a:srgbClr val="F8FAFC"/>
                </a:solidFill>
                <a:latin typeface="Arial" pitchFamily="34" charset="0"/>
                <a:ea typeface="Arial" pitchFamily="34" charset="-122"/>
                <a:cs typeface="Arial" pitchFamily="34" charset="-120"/>
              </a:rPr>
              <a:t>Hariom Patel</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ph type="title"/>
          </p:nvPr>
        </p:nvSpPr>
        <p:spPr>
          <a:xfrm>
            <a:off x="812800" y="698500"/>
            <a:ext cx="10883392" cy="500327"/>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0F172A"/>
                </a:solidFill>
                <a:latin typeface="Arial" pitchFamily="34" charset="0"/>
                <a:ea typeface="Arial" pitchFamily="34" charset="-122"/>
                <a:cs typeface="Arial" pitchFamily="34" charset="-120"/>
              </a:rPr>
              <a:t>What is a List?</a:t>
            </a:r>
            <a:endParaRPr lang="en-US" sz="3400" dirty="0"/>
          </a:p>
        </p:txBody>
      </p:sp>
      <p:sp>
        <p:nvSpPr>
          <p:cNvPr id="3" name="Text 1"/>
          <p:cNvSpPr/>
          <p:nvPr/>
        </p:nvSpPr>
        <p:spPr>
          <a:xfrm>
            <a:off x="812800" y="1363928"/>
            <a:ext cx="10883392" cy="676804"/>
          </a:xfrm>
          <a:prstGeom prst="rect">
            <a:avLst/>
          </a:prstGeom>
          <a:noFill/>
          <a:ln/>
        </p:spPr>
        <p:txBody>
          <a:bodyPr wrap="square" lIns="0" tIns="0" rIns="0" bIns="0" rtlCol="0" anchor="t">
            <a:normAutofit/>
          </a:bodyPr>
          <a:lstStyle/>
          <a:p>
            <a:pPr algn="l" indent="0" marL="0">
              <a:lnSpc>
                <a:spcPts val="2565"/>
              </a:lnSpc>
              <a:buNone/>
            </a:pPr>
            <a:r>
              <a:rPr lang="en-US" sz="1900" dirty="0">
                <a:solidFill>
                  <a:srgbClr val="0F172A"/>
                </a:solidFill>
                <a:latin typeface="Arial" pitchFamily="34" charset="0"/>
                <a:ea typeface="Arial" pitchFamily="34" charset="-122"/>
                <a:cs typeface="Arial" pitchFamily="34" charset="-120"/>
              </a:rPr>
              <a:t>A list is a </a:t>
            </a:r>
            <a:r>
              <a:rPr lang="en-US" sz="1900" b="1" dirty="0">
                <a:solidFill>
                  <a:srgbClr val="0F172A"/>
                </a:solidFill>
                <a:latin typeface="Arial" pitchFamily="34" charset="0"/>
                <a:ea typeface="Arial" pitchFamily="34" charset="-122"/>
                <a:cs typeface="Arial" pitchFamily="34" charset="-120"/>
              </a:rPr>
              <a:t>built-in data structure</a:t>
            </a:r>
            <a:r>
              <a:rPr lang="en-US" sz="1900" dirty="0">
                <a:solidFill>
                  <a:srgbClr val="0F172A"/>
                </a:solidFill>
                <a:latin typeface="Arial" pitchFamily="34" charset="0"/>
                <a:ea typeface="Arial" pitchFamily="34" charset="-122"/>
                <a:cs typeface="Arial" pitchFamily="34" charset="-120"/>
              </a:rPr>
              <a:t> in Python that stores an </a:t>
            </a:r>
            <a:r>
              <a:rPr lang="en-US" sz="1900" b="1" dirty="0">
                <a:solidFill>
                  <a:srgbClr val="0F172A"/>
                </a:solidFill>
                <a:latin typeface="Arial" pitchFamily="34" charset="0"/>
                <a:ea typeface="Arial" pitchFamily="34" charset="-122"/>
                <a:cs typeface="Arial" pitchFamily="34" charset="-120"/>
              </a:rPr>
              <a:t>ordered collection of items</a:t>
            </a:r>
            <a:r>
              <a:rPr lang="en-US" sz="1900" dirty="0">
                <a:solidFill>
                  <a:srgbClr val="0F172A"/>
                </a:solidFill>
                <a:latin typeface="Arial" pitchFamily="34" charset="0"/>
                <a:ea typeface="Arial" pitchFamily="34" charset="-122"/>
                <a:cs typeface="Arial" pitchFamily="34" charset="-120"/>
              </a:rPr>
              <a:t> in a </a:t>
            </a:r>
            <a:r>
              <a:rPr lang="en-US" sz="1900" b="1" dirty="0">
                <a:solidFill>
                  <a:srgbClr val="0F172A"/>
                </a:solidFill>
                <a:latin typeface="Arial" pitchFamily="34" charset="0"/>
                <a:ea typeface="Arial" pitchFamily="34" charset="-122"/>
                <a:cs typeface="Arial" pitchFamily="34" charset="-120"/>
              </a:rPr>
              <a:t>single variable</a:t>
            </a:r>
            <a:r>
              <a:rPr lang="en-US" sz="1900" dirty="0">
                <a:solidFill>
                  <a:srgbClr val="0F172A"/>
                </a:solidFill>
                <a:latin typeface="Arial" pitchFamily="34" charset="0"/>
                <a:ea typeface="Arial" pitchFamily="34" charset="-122"/>
                <a:cs typeface="Arial" pitchFamily="34" charset="-120"/>
              </a:rPr>
              <a:t>.</a:t>
            </a:r>
            <a:endParaRPr lang="en-US" sz="1900" dirty="0"/>
          </a:p>
        </p:txBody>
      </p:sp>
      <p:sp>
        <p:nvSpPr>
          <p:cNvPr id="4" name="Text 2"/>
          <p:cNvSpPr/>
          <p:nvPr/>
        </p:nvSpPr>
        <p:spPr>
          <a:xfrm>
            <a:off x="812800" y="2205831"/>
            <a:ext cx="10883392" cy="299707"/>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75569"/>
                </a:solidFill>
                <a:latin typeface="Arial" pitchFamily="34" charset="0"/>
                <a:ea typeface="Arial" pitchFamily="34" charset="-122"/>
                <a:cs typeface="Arial" pitchFamily="34" charset="-120"/>
              </a:rPr>
              <a:t>Like a shopping list: many items, one name. Items can be numbers, strings or even other lists, written inside </a:t>
            </a:r>
            <a:r>
              <a:rPr lang="en-US" sz="1600" b="1" dirty="0">
                <a:solidFill>
                  <a:srgbClr val="475569"/>
                </a:solidFill>
                <a:latin typeface="Arial" pitchFamily="34" charset="0"/>
                <a:ea typeface="Arial" pitchFamily="34" charset="-122"/>
                <a:cs typeface="Arial" pitchFamily="34" charset="-120"/>
              </a:rPr>
              <a:t>[ ]</a:t>
            </a:r>
            <a:r>
              <a:rPr lang="en-US" sz="1600" dirty="0">
                <a:solidFill>
                  <a:srgbClr val="475569"/>
                </a:solidFill>
                <a:latin typeface="Arial" pitchFamily="34" charset="0"/>
                <a:ea typeface="Arial" pitchFamily="34" charset="-122"/>
                <a:cs typeface="Arial" pitchFamily="34" charset="-120"/>
              </a:rPr>
              <a:t>.</a:t>
            </a:r>
            <a:endParaRPr lang="en-US" sz="1600" dirty="0"/>
          </a:p>
        </p:txBody>
      </p:sp>
      <p:sp>
        <p:nvSpPr>
          <p:cNvPr id="5" name="Shape 3"/>
          <p:cNvSpPr/>
          <p:nvPr/>
        </p:nvSpPr>
        <p:spPr>
          <a:xfrm>
            <a:off x="812800" y="2670639"/>
            <a:ext cx="10566400" cy="2469555"/>
          </a:xfrm>
          <a:prstGeom prst="roundRect">
            <a:avLst>
              <a:gd name="adj" fmla="val 4114"/>
            </a:avLst>
          </a:prstGeom>
          <a:solidFill>
            <a:srgbClr val="0F172A"/>
          </a:solidFill>
          <a:ln/>
        </p:spPr>
      </p:sp>
      <p:sp>
        <p:nvSpPr>
          <p:cNvPr id="6" name="Text 4"/>
          <p:cNvSpPr/>
          <p:nvPr/>
        </p:nvSpPr>
        <p:spPr>
          <a:xfrm>
            <a:off x="1016000" y="2873839"/>
            <a:ext cx="104648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Example</a:t>
            </a:r>
            <a:endParaRPr lang="en-US" sz="1300" dirty="0"/>
          </a:p>
        </p:txBody>
      </p:sp>
      <p:sp>
        <p:nvSpPr>
          <p:cNvPr id="7" name="Text 5"/>
          <p:cNvSpPr/>
          <p:nvPr/>
        </p:nvSpPr>
        <p:spPr>
          <a:xfrm>
            <a:off x="1016000" y="3193852"/>
            <a:ext cx="10464800" cy="368300"/>
          </a:xfrm>
          <a:prstGeom prst="rect">
            <a:avLst/>
          </a:prstGeom>
          <a:noFill/>
          <a:ln/>
        </p:spPr>
        <p:txBody>
          <a:bodyPr wrap="square" lIns="0" tIns="0" rIns="0" bIns="0" rtlCol="0" anchor="t">
            <a:normAutofit/>
          </a:bodyPr>
          <a:lstStyle/>
          <a:p>
            <a:pPr algn="l" indent="0" marL="0">
              <a:lnSpc>
                <a:spcPts val="2700"/>
              </a:lnSpc>
              <a:buNone/>
            </a:pPr>
            <a:r>
              <a:rPr lang="en-US" sz="1800" dirty="0">
                <a:solidFill>
                  <a:srgbClr val="FDE68A"/>
                </a:solidFill>
                <a:latin typeface="Courier New" pitchFamily="49" charset="0"/>
                <a:ea typeface="Courier New" pitchFamily="49" charset="-122"/>
                <a:cs typeface="Courier New" pitchFamily="49" charset="-120"/>
              </a:rPr>
              <a:t>fruits = ["Apple", "Banana", "Mango"]</a:t>
            </a:r>
            <a:endParaRPr lang="en-US" sz="1800" dirty="0"/>
          </a:p>
        </p:txBody>
      </p:sp>
      <p:sp>
        <p:nvSpPr>
          <p:cNvPr id="8" name="Text 6"/>
          <p:cNvSpPr/>
          <p:nvPr/>
        </p:nvSpPr>
        <p:spPr>
          <a:xfrm>
            <a:off x="822325" y="5340218"/>
            <a:ext cx="944761"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Apple</a:t>
            </a:r>
            <a:endParaRPr lang="en-US" sz="1700" dirty="0"/>
          </a:p>
        </p:txBody>
      </p:sp>
      <p:sp>
        <p:nvSpPr>
          <p:cNvPr id="9" name="Text 7"/>
          <p:cNvSpPr/>
          <p:nvPr/>
        </p:nvSpPr>
        <p:spPr>
          <a:xfrm>
            <a:off x="1226873" y="5882680"/>
            <a:ext cx="135599"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5569"/>
                </a:solidFill>
                <a:latin typeface="Arial" pitchFamily="34" charset="0"/>
                <a:ea typeface="Arial" pitchFamily="34" charset="-122"/>
                <a:cs typeface="Arial" pitchFamily="34" charset="-120"/>
              </a:rPr>
              <a:t>0</a:t>
            </a:r>
            <a:endParaRPr lang="en-US" sz="1200" dirty="0"/>
          </a:p>
        </p:txBody>
      </p:sp>
      <p:sp>
        <p:nvSpPr>
          <p:cNvPr id="10" name="Text 8"/>
          <p:cNvSpPr/>
          <p:nvPr/>
        </p:nvSpPr>
        <p:spPr>
          <a:xfrm>
            <a:off x="1849636" y="5340218"/>
            <a:ext cx="112494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Banana</a:t>
            </a:r>
            <a:endParaRPr lang="en-US" sz="1700" dirty="0"/>
          </a:p>
        </p:txBody>
      </p:sp>
      <p:sp>
        <p:nvSpPr>
          <p:cNvPr id="11" name="Text 9"/>
          <p:cNvSpPr/>
          <p:nvPr/>
        </p:nvSpPr>
        <p:spPr>
          <a:xfrm>
            <a:off x="2344275" y="5882680"/>
            <a:ext cx="135599"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5569"/>
                </a:solidFill>
                <a:latin typeface="Arial" pitchFamily="34" charset="0"/>
                <a:ea typeface="Arial" pitchFamily="34" charset="-122"/>
                <a:cs typeface="Arial" pitchFamily="34" charset="-120"/>
              </a:rPr>
              <a:t>1</a:t>
            </a:r>
            <a:endParaRPr lang="en-US" sz="1200" dirty="0"/>
          </a:p>
        </p:txBody>
      </p:sp>
      <p:sp>
        <p:nvSpPr>
          <p:cNvPr id="12" name="Text 10"/>
          <p:cNvSpPr/>
          <p:nvPr/>
        </p:nvSpPr>
        <p:spPr>
          <a:xfrm>
            <a:off x="3057128" y="5340218"/>
            <a:ext cx="1040606"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Mango</a:t>
            </a:r>
            <a:endParaRPr lang="en-US" sz="1700" dirty="0"/>
          </a:p>
        </p:txBody>
      </p:sp>
      <p:sp>
        <p:nvSpPr>
          <p:cNvPr id="13" name="Text 11"/>
          <p:cNvSpPr/>
          <p:nvPr/>
        </p:nvSpPr>
        <p:spPr>
          <a:xfrm>
            <a:off x="3509632" y="5882680"/>
            <a:ext cx="135599"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5569"/>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ph type="title"/>
          </p:nvPr>
        </p:nvSpPr>
        <p:spPr>
          <a:xfrm>
            <a:off x="812800" y="698500"/>
            <a:ext cx="10883392" cy="500327"/>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0F172A"/>
                </a:solidFill>
                <a:latin typeface="Arial" pitchFamily="34" charset="0"/>
                <a:ea typeface="Arial" pitchFamily="34" charset="-122"/>
                <a:cs typeface="Arial" pitchFamily="34" charset="-120"/>
              </a:rPr>
              <a:t>Key Features of a List</a:t>
            </a:r>
            <a:endParaRPr lang="en-US" sz="3400" dirty="0"/>
          </a:p>
        </p:txBody>
      </p:sp>
      <p:sp>
        <p:nvSpPr>
          <p:cNvPr id="3" name="Shape 1"/>
          <p:cNvSpPr/>
          <p:nvPr/>
        </p:nvSpPr>
        <p:spPr>
          <a:xfrm>
            <a:off x="819150" y="1370278"/>
            <a:ext cx="3373967" cy="1356320"/>
          </a:xfrm>
          <a:prstGeom prst="roundRect">
            <a:avLst>
              <a:gd name="adj" fmla="val 7023"/>
            </a:avLst>
          </a:prstGeom>
          <a:solidFill>
            <a:srgbClr val="FFFFFF"/>
          </a:solidFill>
          <a:ln w="12700">
            <a:solidFill>
              <a:srgbClr val="E2E8F0"/>
            </a:solidFill>
            <a:prstDash val="solid"/>
          </a:ln>
        </p:spPr>
      </p:sp>
      <p:sp>
        <p:nvSpPr>
          <p:cNvPr id="4" name="Text 2"/>
          <p:cNvSpPr/>
          <p:nvPr/>
        </p:nvSpPr>
        <p:spPr>
          <a:xfrm>
            <a:off x="1016000" y="1567128"/>
            <a:ext cx="3069675"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3776AB"/>
                </a:solidFill>
                <a:latin typeface="Arial" pitchFamily="34" charset="0"/>
                <a:ea typeface="Arial" pitchFamily="34" charset="-122"/>
                <a:cs typeface="Arial" pitchFamily="34" charset="-120"/>
              </a:rPr>
              <a:t>Ordered</a:t>
            </a:r>
            <a:endParaRPr lang="en-US" sz="1800" dirty="0"/>
          </a:p>
        </p:txBody>
      </p:sp>
      <p:sp>
        <p:nvSpPr>
          <p:cNvPr id="5" name="Text 3"/>
          <p:cNvSpPr/>
          <p:nvPr/>
        </p:nvSpPr>
        <p:spPr>
          <a:xfrm>
            <a:off x="1016000" y="1950641"/>
            <a:ext cx="3069675"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Arial" pitchFamily="34" charset="0"/>
                <a:ea typeface="Arial" pitchFamily="34" charset="-122"/>
                <a:cs typeface="Arial" pitchFamily="34" charset="-120"/>
              </a:rPr>
              <a:t>Keeps insertion order</a:t>
            </a:r>
            <a:endParaRPr lang="en-US" sz="1400" dirty="0"/>
          </a:p>
        </p:txBody>
      </p:sp>
      <p:sp>
        <p:nvSpPr>
          <p:cNvPr id="6" name="Text 4"/>
          <p:cNvSpPr/>
          <p:nvPr/>
        </p:nvSpPr>
        <p:spPr>
          <a:xfrm>
            <a:off x="1016000" y="2263048"/>
            <a:ext cx="3069675"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DE68A"/>
                </a:solidFill>
                <a:latin typeface="Courier New" pitchFamily="49" charset="0"/>
                <a:ea typeface="Courier New" pitchFamily="49" charset="-122"/>
                <a:cs typeface="Courier New" pitchFamily="49" charset="-120"/>
              </a:rPr>
              <a:t>[10, 20, 30]</a:t>
            </a:r>
            <a:endParaRPr lang="en-US" sz="1400" dirty="0"/>
          </a:p>
        </p:txBody>
      </p:sp>
      <p:sp>
        <p:nvSpPr>
          <p:cNvPr id="7" name="Shape 5"/>
          <p:cNvSpPr/>
          <p:nvPr/>
        </p:nvSpPr>
        <p:spPr>
          <a:xfrm>
            <a:off x="4409017" y="1370278"/>
            <a:ext cx="3373967" cy="1356320"/>
          </a:xfrm>
          <a:prstGeom prst="roundRect">
            <a:avLst>
              <a:gd name="adj" fmla="val 7023"/>
            </a:avLst>
          </a:prstGeom>
          <a:solidFill>
            <a:srgbClr val="FFFFFF"/>
          </a:solidFill>
          <a:ln w="12700">
            <a:solidFill>
              <a:srgbClr val="E2E8F0"/>
            </a:solidFill>
            <a:prstDash val="solid"/>
          </a:ln>
        </p:spPr>
      </p:sp>
      <p:sp>
        <p:nvSpPr>
          <p:cNvPr id="8" name="Text 6"/>
          <p:cNvSpPr/>
          <p:nvPr/>
        </p:nvSpPr>
        <p:spPr>
          <a:xfrm>
            <a:off x="4605867" y="1567128"/>
            <a:ext cx="3069675"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3776AB"/>
                </a:solidFill>
                <a:latin typeface="Arial" pitchFamily="34" charset="0"/>
                <a:ea typeface="Arial" pitchFamily="34" charset="-122"/>
                <a:cs typeface="Arial" pitchFamily="34" charset="-120"/>
              </a:rPr>
              <a:t>Mutable</a:t>
            </a:r>
            <a:endParaRPr lang="en-US" sz="1800" dirty="0"/>
          </a:p>
        </p:txBody>
      </p:sp>
      <p:sp>
        <p:nvSpPr>
          <p:cNvPr id="9" name="Text 7"/>
          <p:cNvSpPr/>
          <p:nvPr/>
        </p:nvSpPr>
        <p:spPr>
          <a:xfrm>
            <a:off x="4605867" y="1950641"/>
            <a:ext cx="3069675"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Arial" pitchFamily="34" charset="0"/>
                <a:ea typeface="Arial" pitchFamily="34" charset="-122"/>
                <a:cs typeface="Arial" pitchFamily="34" charset="-120"/>
              </a:rPr>
              <a:t>Change after creation</a:t>
            </a:r>
            <a:endParaRPr lang="en-US" sz="1400" dirty="0"/>
          </a:p>
        </p:txBody>
      </p:sp>
      <p:sp>
        <p:nvSpPr>
          <p:cNvPr id="10" name="Text 8"/>
          <p:cNvSpPr/>
          <p:nvPr/>
        </p:nvSpPr>
        <p:spPr>
          <a:xfrm>
            <a:off x="4605867" y="2263048"/>
            <a:ext cx="3069675"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DE68A"/>
                </a:solidFill>
                <a:latin typeface="Courier New" pitchFamily="49" charset="0"/>
                <a:ea typeface="Courier New" pitchFamily="49" charset="-122"/>
                <a:cs typeface="Courier New" pitchFamily="49" charset="-120"/>
              </a:rPr>
              <a:t>a[0] = 99</a:t>
            </a:r>
            <a:endParaRPr lang="en-US" sz="1400" dirty="0"/>
          </a:p>
        </p:txBody>
      </p:sp>
      <p:sp>
        <p:nvSpPr>
          <p:cNvPr id="11" name="Shape 9"/>
          <p:cNvSpPr/>
          <p:nvPr/>
        </p:nvSpPr>
        <p:spPr>
          <a:xfrm>
            <a:off x="7998884" y="1370278"/>
            <a:ext cx="3373967" cy="1356320"/>
          </a:xfrm>
          <a:prstGeom prst="roundRect">
            <a:avLst>
              <a:gd name="adj" fmla="val 7023"/>
            </a:avLst>
          </a:prstGeom>
          <a:solidFill>
            <a:srgbClr val="FFFFFF"/>
          </a:solidFill>
          <a:ln w="12700">
            <a:solidFill>
              <a:srgbClr val="E2E8F0"/>
            </a:solidFill>
            <a:prstDash val="solid"/>
          </a:ln>
        </p:spPr>
      </p:sp>
      <p:sp>
        <p:nvSpPr>
          <p:cNvPr id="12" name="Text 10"/>
          <p:cNvSpPr/>
          <p:nvPr/>
        </p:nvSpPr>
        <p:spPr>
          <a:xfrm>
            <a:off x="8195734" y="1567128"/>
            <a:ext cx="3069675"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3776AB"/>
                </a:solidFill>
                <a:latin typeface="Arial" pitchFamily="34" charset="0"/>
                <a:ea typeface="Arial" pitchFamily="34" charset="-122"/>
                <a:cs typeface="Arial" pitchFamily="34" charset="-120"/>
              </a:rPr>
              <a:t>Indexed</a:t>
            </a:r>
            <a:endParaRPr lang="en-US" sz="1800" dirty="0"/>
          </a:p>
        </p:txBody>
      </p:sp>
      <p:sp>
        <p:nvSpPr>
          <p:cNvPr id="13" name="Text 11"/>
          <p:cNvSpPr/>
          <p:nvPr/>
        </p:nvSpPr>
        <p:spPr>
          <a:xfrm>
            <a:off x="8195734" y="1950641"/>
            <a:ext cx="3069675"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Arial" pitchFamily="34" charset="0"/>
                <a:ea typeface="Arial" pitchFamily="34" charset="-122"/>
                <a:cs typeface="Arial" pitchFamily="34" charset="-120"/>
              </a:rPr>
              <a:t>Index starts at 0</a:t>
            </a:r>
            <a:endParaRPr lang="en-US" sz="1400" dirty="0"/>
          </a:p>
        </p:txBody>
      </p:sp>
      <p:sp>
        <p:nvSpPr>
          <p:cNvPr id="14" name="Text 12"/>
          <p:cNvSpPr/>
          <p:nvPr/>
        </p:nvSpPr>
        <p:spPr>
          <a:xfrm>
            <a:off x="8195734" y="2263048"/>
            <a:ext cx="3069675"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DE68A"/>
                </a:solidFill>
                <a:latin typeface="Courier New" pitchFamily="49" charset="0"/>
                <a:ea typeface="Courier New" pitchFamily="49" charset="-122"/>
                <a:cs typeface="Courier New" pitchFamily="49" charset="-120"/>
              </a:rPr>
              <a:t>a[0] a[-1]</a:t>
            </a:r>
            <a:endParaRPr lang="en-US" sz="1400" dirty="0"/>
          </a:p>
        </p:txBody>
      </p:sp>
      <p:sp>
        <p:nvSpPr>
          <p:cNvPr id="15" name="Shape 13"/>
          <p:cNvSpPr/>
          <p:nvPr/>
        </p:nvSpPr>
        <p:spPr>
          <a:xfrm>
            <a:off x="819150" y="2929798"/>
            <a:ext cx="3373967" cy="1356320"/>
          </a:xfrm>
          <a:prstGeom prst="roundRect">
            <a:avLst>
              <a:gd name="adj" fmla="val 7023"/>
            </a:avLst>
          </a:prstGeom>
          <a:solidFill>
            <a:srgbClr val="FFFFFF"/>
          </a:solidFill>
          <a:ln w="12700">
            <a:solidFill>
              <a:srgbClr val="E2E8F0"/>
            </a:solidFill>
            <a:prstDash val="solid"/>
          </a:ln>
        </p:spPr>
      </p:sp>
      <p:sp>
        <p:nvSpPr>
          <p:cNvPr id="16" name="Text 14"/>
          <p:cNvSpPr/>
          <p:nvPr/>
        </p:nvSpPr>
        <p:spPr>
          <a:xfrm>
            <a:off x="1016000" y="3126648"/>
            <a:ext cx="3069675"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3776AB"/>
                </a:solidFill>
                <a:latin typeface="Arial" pitchFamily="34" charset="0"/>
                <a:ea typeface="Arial" pitchFamily="34" charset="-122"/>
                <a:cs typeface="Arial" pitchFamily="34" charset="-120"/>
              </a:rPr>
              <a:t>Duplicates</a:t>
            </a:r>
            <a:endParaRPr lang="en-US" sz="1800" dirty="0"/>
          </a:p>
        </p:txBody>
      </p:sp>
      <p:sp>
        <p:nvSpPr>
          <p:cNvPr id="17" name="Text 15"/>
          <p:cNvSpPr/>
          <p:nvPr/>
        </p:nvSpPr>
        <p:spPr>
          <a:xfrm>
            <a:off x="1016000" y="3510161"/>
            <a:ext cx="3069675"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Arial" pitchFamily="34" charset="0"/>
                <a:ea typeface="Arial" pitchFamily="34" charset="-122"/>
                <a:cs typeface="Arial" pitchFamily="34" charset="-120"/>
              </a:rPr>
              <a:t>Same value allowed</a:t>
            </a:r>
            <a:endParaRPr lang="en-US" sz="1400" dirty="0"/>
          </a:p>
        </p:txBody>
      </p:sp>
      <p:sp>
        <p:nvSpPr>
          <p:cNvPr id="18" name="Text 16"/>
          <p:cNvSpPr/>
          <p:nvPr/>
        </p:nvSpPr>
        <p:spPr>
          <a:xfrm>
            <a:off x="1016000" y="3822568"/>
            <a:ext cx="3069675"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DE68A"/>
                </a:solidFill>
                <a:latin typeface="Courier New" pitchFamily="49" charset="0"/>
                <a:ea typeface="Courier New" pitchFamily="49" charset="-122"/>
                <a:cs typeface="Courier New" pitchFamily="49" charset="-120"/>
              </a:rPr>
              <a:t>[1, 1, 2]</a:t>
            </a:r>
            <a:endParaRPr lang="en-US" sz="1400" dirty="0"/>
          </a:p>
        </p:txBody>
      </p:sp>
      <p:sp>
        <p:nvSpPr>
          <p:cNvPr id="19" name="Shape 17"/>
          <p:cNvSpPr/>
          <p:nvPr/>
        </p:nvSpPr>
        <p:spPr>
          <a:xfrm>
            <a:off x="4409017" y="2929798"/>
            <a:ext cx="3373967" cy="1356320"/>
          </a:xfrm>
          <a:prstGeom prst="roundRect">
            <a:avLst>
              <a:gd name="adj" fmla="val 7023"/>
            </a:avLst>
          </a:prstGeom>
          <a:solidFill>
            <a:srgbClr val="FFFFFF"/>
          </a:solidFill>
          <a:ln w="12700">
            <a:solidFill>
              <a:srgbClr val="E2E8F0"/>
            </a:solidFill>
            <a:prstDash val="solid"/>
          </a:ln>
        </p:spPr>
      </p:sp>
      <p:sp>
        <p:nvSpPr>
          <p:cNvPr id="20" name="Text 18"/>
          <p:cNvSpPr/>
          <p:nvPr/>
        </p:nvSpPr>
        <p:spPr>
          <a:xfrm>
            <a:off x="4605867" y="3126648"/>
            <a:ext cx="3069675"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3776AB"/>
                </a:solidFill>
                <a:latin typeface="Arial" pitchFamily="34" charset="0"/>
                <a:ea typeface="Arial" pitchFamily="34" charset="-122"/>
                <a:cs typeface="Arial" pitchFamily="34" charset="-120"/>
              </a:rPr>
              <a:t>Mixed types</a:t>
            </a:r>
            <a:endParaRPr lang="en-US" sz="1800" dirty="0"/>
          </a:p>
        </p:txBody>
      </p:sp>
      <p:sp>
        <p:nvSpPr>
          <p:cNvPr id="21" name="Text 19"/>
          <p:cNvSpPr/>
          <p:nvPr/>
        </p:nvSpPr>
        <p:spPr>
          <a:xfrm>
            <a:off x="4605867" y="3510161"/>
            <a:ext cx="3069675"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Arial" pitchFamily="34" charset="0"/>
                <a:ea typeface="Arial" pitchFamily="34" charset="-122"/>
                <a:cs typeface="Arial" pitchFamily="34" charset="-120"/>
              </a:rPr>
              <a:t>Different data types</a:t>
            </a:r>
            <a:endParaRPr lang="en-US" sz="1400" dirty="0"/>
          </a:p>
        </p:txBody>
      </p:sp>
      <p:sp>
        <p:nvSpPr>
          <p:cNvPr id="22" name="Text 20"/>
          <p:cNvSpPr/>
          <p:nvPr/>
        </p:nvSpPr>
        <p:spPr>
          <a:xfrm>
            <a:off x="4605867" y="3822568"/>
            <a:ext cx="3069675"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DE68A"/>
                </a:solidFill>
                <a:latin typeface="Courier New" pitchFamily="49" charset="0"/>
                <a:ea typeface="Courier New" pitchFamily="49" charset="-122"/>
                <a:cs typeface="Courier New" pitchFamily="49" charset="-120"/>
              </a:rPr>
              <a:t>[10, "Hi", True]</a:t>
            </a:r>
            <a:endParaRPr lang="en-US" sz="1400" dirty="0"/>
          </a:p>
        </p:txBody>
      </p:sp>
      <p:sp>
        <p:nvSpPr>
          <p:cNvPr id="23" name="Shape 21"/>
          <p:cNvSpPr/>
          <p:nvPr/>
        </p:nvSpPr>
        <p:spPr>
          <a:xfrm>
            <a:off x="7998884" y="2929798"/>
            <a:ext cx="3373967" cy="1356320"/>
          </a:xfrm>
          <a:prstGeom prst="roundRect">
            <a:avLst>
              <a:gd name="adj" fmla="val 7023"/>
            </a:avLst>
          </a:prstGeom>
          <a:solidFill>
            <a:srgbClr val="FFFFFF"/>
          </a:solidFill>
          <a:ln w="12700">
            <a:solidFill>
              <a:srgbClr val="E2E8F0"/>
            </a:solidFill>
            <a:prstDash val="solid"/>
          </a:ln>
        </p:spPr>
      </p:sp>
      <p:sp>
        <p:nvSpPr>
          <p:cNvPr id="24" name="Text 22"/>
          <p:cNvSpPr/>
          <p:nvPr/>
        </p:nvSpPr>
        <p:spPr>
          <a:xfrm>
            <a:off x="8195734" y="3126648"/>
            <a:ext cx="3069675"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3776AB"/>
                </a:solidFill>
                <a:latin typeface="Arial" pitchFamily="34" charset="0"/>
                <a:ea typeface="Arial" pitchFamily="34" charset="-122"/>
                <a:cs typeface="Arial" pitchFamily="34" charset="-120"/>
              </a:rPr>
              <a:t>Dynamic</a:t>
            </a:r>
            <a:endParaRPr lang="en-US" sz="1800" dirty="0"/>
          </a:p>
        </p:txBody>
      </p:sp>
      <p:sp>
        <p:nvSpPr>
          <p:cNvPr id="25" name="Text 23"/>
          <p:cNvSpPr/>
          <p:nvPr/>
        </p:nvSpPr>
        <p:spPr>
          <a:xfrm>
            <a:off x="8195734" y="3510161"/>
            <a:ext cx="3069675"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Arial" pitchFamily="34" charset="0"/>
                <a:ea typeface="Arial" pitchFamily="34" charset="-122"/>
                <a:cs typeface="Arial" pitchFamily="34" charset="-120"/>
              </a:rPr>
              <a:t>Grows with append()</a:t>
            </a:r>
            <a:endParaRPr lang="en-US" sz="1400" dirty="0"/>
          </a:p>
        </p:txBody>
      </p:sp>
      <p:sp>
        <p:nvSpPr>
          <p:cNvPr id="26" name="Text 24"/>
          <p:cNvSpPr/>
          <p:nvPr/>
        </p:nvSpPr>
        <p:spPr>
          <a:xfrm>
            <a:off x="8195734" y="3822568"/>
            <a:ext cx="3069675"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DE68A"/>
                </a:solidFill>
                <a:latin typeface="Courier New" pitchFamily="49" charset="0"/>
                <a:ea typeface="Courier New" pitchFamily="49" charset="-122"/>
                <a:cs typeface="Courier New" pitchFamily="49" charset="-120"/>
              </a:rPr>
              <a:t>a.append(5)</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ph type="title"/>
          </p:nvPr>
        </p:nvSpPr>
        <p:spPr>
          <a:xfrm>
            <a:off x="812800" y="698500"/>
            <a:ext cx="10883392" cy="500327"/>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0F172A"/>
                </a:solidFill>
                <a:latin typeface="Arial" pitchFamily="34" charset="0"/>
                <a:ea typeface="Arial" pitchFamily="34" charset="-122"/>
                <a:cs typeface="Arial" pitchFamily="34" charset="-120"/>
              </a:rPr>
              <a:t>Why use a List?</a:t>
            </a:r>
            <a:endParaRPr lang="en-US" sz="3400" dirty="0"/>
          </a:p>
        </p:txBody>
      </p:sp>
      <p:sp>
        <p:nvSpPr>
          <p:cNvPr id="3" name="Text 1"/>
          <p:cNvSpPr/>
          <p:nvPr/>
        </p:nvSpPr>
        <p:spPr>
          <a:xfrm>
            <a:off x="812800" y="1363928"/>
            <a:ext cx="10883392" cy="351102"/>
          </a:xfrm>
          <a:prstGeom prst="rect">
            <a:avLst/>
          </a:prstGeom>
          <a:noFill/>
          <a:ln/>
        </p:spPr>
        <p:txBody>
          <a:bodyPr wrap="square" lIns="0" tIns="0" rIns="0" bIns="0" rtlCol="0" anchor="t">
            <a:normAutofit/>
          </a:bodyPr>
          <a:lstStyle/>
          <a:p>
            <a:pPr algn="l" indent="0" marL="0">
              <a:lnSpc>
                <a:spcPts val="2565"/>
              </a:lnSpc>
              <a:buNone/>
            </a:pPr>
            <a:r>
              <a:rPr lang="en-US" sz="1900" dirty="0">
                <a:solidFill>
                  <a:srgbClr val="0F172A"/>
                </a:solidFill>
                <a:latin typeface="Arial" pitchFamily="34" charset="0"/>
                <a:ea typeface="Arial" pitchFamily="34" charset="-122"/>
                <a:cs typeface="Arial" pitchFamily="34" charset="-120"/>
              </a:rPr>
              <a:t>Store many values together. Easily </a:t>
            </a:r>
            <a:r>
              <a:rPr lang="en-US" sz="1900" b="1" dirty="0">
                <a:solidFill>
                  <a:srgbClr val="0F172A"/>
                </a:solidFill>
                <a:latin typeface="Arial" pitchFamily="34" charset="0"/>
                <a:ea typeface="Arial" pitchFamily="34" charset="-122"/>
                <a:cs typeface="Arial" pitchFamily="34" charset="-120"/>
              </a:rPr>
              <a:t>add, remove and change</a:t>
            </a:r>
            <a:r>
              <a:rPr lang="en-US" sz="1900" dirty="0">
                <a:solidFill>
                  <a:srgbClr val="0F172A"/>
                </a:solidFill>
                <a:latin typeface="Arial" pitchFamily="34" charset="0"/>
                <a:ea typeface="Arial" pitchFamily="34" charset="-122"/>
                <a:cs typeface="Arial" pitchFamily="34" charset="-120"/>
              </a:rPr>
              <a:t> items.</a:t>
            </a:r>
            <a:endParaRPr lang="en-US" sz="1900" dirty="0"/>
          </a:p>
        </p:txBody>
      </p:sp>
      <p:sp>
        <p:nvSpPr>
          <p:cNvPr id="4" name="Shape 2"/>
          <p:cNvSpPr/>
          <p:nvPr/>
        </p:nvSpPr>
        <p:spPr>
          <a:xfrm>
            <a:off x="812800" y="1880130"/>
            <a:ext cx="5181600" cy="1697964"/>
          </a:xfrm>
          <a:prstGeom prst="roundRect">
            <a:avLst>
              <a:gd name="adj" fmla="val 5984"/>
            </a:avLst>
          </a:prstGeom>
          <a:solidFill>
            <a:srgbClr val="0F172A"/>
          </a:solidFill>
          <a:ln/>
        </p:spPr>
      </p:sp>
      <p:sp>
        <p:nvSpPr>
          <p:cNvPr id="5" name="Text 3"/>
          <p:cNvSpPr/>
          <p:nvPr/>
        </p:nvSpPr>
        <p:spPr>
          <a:xfrm>
            <a:off x="1016000" y="2083330"/>
            <a:ext cx="491845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Without list</a:t>
            </a:r>
            <a:endParaRPr lang="en-US" sz="1300" dirty="0"/>
          </a:p>
        </p:txBody>
      </p:sp>
      <p:sp>
        <p:nvSpPr>
          <p:cNvPr id="6" name="Text 4"/>
          <p:cNvSpPr/>
          <p:nvPr/>
        </p:nvSpPr>
        <p:spPr>
          <a:xfrm>
            <a:off x="1016000" y="2403343"/>
            <a:ext cx="4918456" cy="996950"/>
          </a:xfrm>
          <a:prstGeom prst="rect">
            <a:avLst/>
          </a:prstGeom>
          <a:noFill/>
          <a:ln/>
        </p:spPr>
        <p:txBody>
          <a:bodyPr wrap="square" lIns="0" tIns="0" rIns="0" bIns="0" rtlCol="0" anchor="t">
            <a:normAutofit/>
          </a:bodyPr>
          <a:lstStyle/>
          <a:p>
            <a:pPr algn="l" indent="0" marL="0">
              <a:lnSpc>
                <a:spcPts val="2550"/>
              </a:lnSpc>
              <a:buNone/>
            </a:pPr>
            <a:r>
              <a:rPr lang="en-US" sz="1700" dirty="0">
                <a:solidFill>
                  <a:srgbClr val="FDE68A"/>
                </a:solidFill>
                <a:latin typeface="Courier New" pitchFamily="49" charset="0"/>
                <a:ea typeface="Courier New" pitchFamily="49" charset="-122"/>
                <a:cs typeface="Courier New" pitchFamily="49" charset="-120"/>
              </a:rPr>
              <a:t>s1 = "Rahul"</a:t>
            </a:r>
            <a:endParaRPr lang="en-US" sz="1700" dirty="0"/>
          </a:p>
          <a:p>
            <a:pPr algn="l" indent="0" marL="0">
              <a:lnSpc>
                <a:spcPts val="2550"/>
              </a:lnSpc>
              <a:buNone/>
            </a:pPr>
            <a:r>
              <a:rPr lang="en-US" sz="1700" dirty="0">
                <a:solidFill>
                  <a:srgbClr val="FDE68A"/>
                </a:solidFill>
                <a:latin typeface="Courier New" pitchFamily="49" charset="0"/>
                <a:ea typeface="Courier New" pitchFamily="49" charset="-122"/>
                <a:cs typeface="Courier New" pitchFamily="49" charset="-120"/>
              </a:rPr>
              <a:t>s2 = "Priya"</a:t>
            </a:r>
            <a:endParaRPr lang="en-US" sz="1700" dirty="0"/>
          </a:p>
          <a:p>
            <a:pPr algn="l" indent="0" marL="0">
              <a:lnSpc>
                <a:spcPts val="2550"/>
              </a:lnSpc>
              <a:buNone/>
            </a:pPr>
            <a:r>
              <a:rPr lang="en-US" sz="1700" dirty="0">
                <a:solidFill>
                  <a:srgbClr val="FDE68A"/>
                </a:solidFill>
                <a:latin typeface="Courier New" pitchFamily="49" charset="0"/>
                <a:ea typeface="Courier New" pitchFamily="49" charset="-122"/>
                <a:cs typeface="Courier New" pitchFamily="49" charset="-120"/>
              </a:rPr>
              <a:t>s3 = "Aman"</a:t>
            </a:r>
            <a:endParaRPr lang="en-US" sz="1700" dirty="0"/>
          </a:p>
        </p:txBody>
      </p:sp>
      <p:sp>
        <p:nvSpPr>
          <p:cNvPr id="7" name="Shape 5"/>
          <p:cNvSpPr/>
          <p:nvPr/>
        </p:nvSpPr>
        <p:spPr>
          <a:xfrm>
            <a:off x="6197600" y="1880130"/>
            <a:ext cx="5181600" cy="1697964"/>
          </a:xfrm>
          <a:prstGeom prst="roundRect">
            <a:avLst>
              <a:gd name="adj" fmla="val 5984"/>
            </a:avLst>
          </a:prstGeom>
          <a:solidFill>
            <a:srgbClr val="0F172A"/>
          </a:solidFill>
          <a:ln/>
        </p:spPr>
      </p:sp>
      <p:sp>
        <p:nvSpPr>
          <p:cNvPr id="8" name="Text 6"/>
          <p:cNvSpPr/>
          <p:nvPr/>
        </p:nvSpPr>
        <p:spPr>
          <a:xfrm>
            <a:off x="6400800" y="2083330"/>
            <a:ext cx="491845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With list</a:t>
            </a:r>
            <a:endParaRPr lang="en-US" sz="1300" dirty="0"/>
          </a:p>
        </p:txBody>
      </p:sp>
      <p:sp>
        <p:nvSpPr>
          <p:cNvPr id="9" name="Text 7"/>
          <p:cNvSpPr/>
          <p:nvPr/>
        </p:nvSpPr>
        <p:spPr>
          <a:xfrm>
            <a:off x="6400800" y="2403343"/>
            <a:ext cx="4918456" cy="673100"/>
          </a:xfrm>
          <a:prstGeom prst="rect">
            <a:avLst/>
          </a:prstGeom>
          <a:noFill/>
          <a:ln/>
        </p:spPr>
        <p:txBody>
          <a:bodyPr wrap="square" lIns="0" tIns="0" rIns="0" bIns="0" rtlCol="0" anchor="t">
            <a:normAutofit/>
          </a:bodyPr>
          <a:lstStyle/>
          <a:p>
            <a:pPr algn="l" indent="0" marL="0">
              <a:lnSpc>
                <a:spcPts val="2550"/>
              </a:lnSpc>
              <a:buNone/>
            </a:pPr>
            <a:r>
              <a:rPr lang="en-US" sz="1700" dirty="0">
                <a:solidFill>
                  <a:srgbClr val="FDE68A"/>
                </a:solidFill>
                <a:latin typeface="Courier New" pitchFamily="49" charset="0"/>
                <a:ea typeface="Courier New" pitchFamily="49" charset="-122"/>
                <a:cs typeface="Courier New" pitchFamily="49" charset="-120"/>
              </a:rPr>
              <a:t>students = ["Rahul",</a:t>
            </a:r>
            <a:endParaRPr lang="en-US" sz="1700" dirty="0"/>
          </a:p>
          <a:p>
            <a:pPr algn="l" indent="0" marL="0">
              <a:lnSpc>
                <a:spcPts val="2550"/>
              </a:lnSpc>
              <a:buNone/>
            </a:pPr>
            <a:r>
              <a:rPr lang="en-US" sz="1700" dirty="0">
                <a:solidFill>
                  <a:srgbClr val="FDE68A"/>
                </a:solidFill>
                <a:latin typeface="Courier New" pitchFamily="49" charset="0"/>
                <a:ea typeface="Courier New" pitchFamily="49" charset="-122"/>
                <a:cs typeface="Courier New" pitchFamily="49" charset="-120"/>
              </a:rPr>
              <a:t>            "Priya", "Aman"]</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ph type="title"/>
          </p:nvPr>
        </p:nvSpPr>
        <p:spPr>
          <a:xfrm>
            <a:off x="812800" y="698500"/>
            <a:ext cx="10883392" cy="500327"/>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0F172A"/>
                </a:solidFill>
                <a:latin typeface="Arial" pitchFamily="34" charset="0"/>
                <a:ea typeface="Arial" pitchFamily="34" charset="-122"/>
                <a:cs typeface="Arial" pitchFamily="34" charset="-120"/>
              </a:rPr>
              <a:t>How to create a List?</a:t>
            </a:r>
            <a:endParaRPr lang="en-US" sz="3400" dirty="0"/>
          </a:p>
        </p:txBody>
      </p:sp>
      <p:sp>
        <p:nvSpPr>
          <p:cNvPr id="3" name="Text 1"/>
          <p:cNvSpPr/>
          <p:nvPr/>
        </p:nvSpPr>
        <p:spPr>
          <a:xfrm>
            <a:off x="812800" y="1363929"/>
            <a:ext cx="10883392" cy="351102"/>
          </a:xfrm>
          <a:prstGeom prst="rect">
            <a:avLst/>
          </a:prstGeom>
          <a:noFill/>
          <a:ln/>
        </p:spPr>
        <p:txBody>
          <a:bodyPr wrap="square" lIns="0" tIns="0" rIns="0" bIns="0" rtlCol="0" anchor="t">
            <a:normAutofit/>
          </a:bodyPr>
          <a:lstStyle/>
          <a:p>
            <a:pPr algn="l" indent="0" marL="0">
              <a:lnSpc>
                <a:spcPts val="2565"/>
              </a:lnSpc>
              <a:buNone/>
            </a:pPr>
            <a:r>
              <a:rPr lang="en-US" sz="1900" dirty="0">
                <a:solidFill>
                  <a:srgbClr val="0F172A"/>
                </a:solidFill>
                <a:latin typeface="Arial" pitchFamily="34" charset="0"/>
                <a:ea typeface="Arial" pitchFamily="34" charset="-122"/>
                <a:cs typeface="Arial" pitchFamily="34" charset="-120"/>
              </a:rPr>
              <a:t>Put items inside square brackets and separate them with commas.</a:t>
            </a:r>
            <a:endParaRPr lang="en-US" sz="1900" dirty="0"/>
          </a:p>
        </p:txBody>
      </p:sp>
      <p:sp>
        <p:nvSpPr>
          <p:cNvPr id="4" name="Shape 2"/>
          <p:cNvSpPr/>
          <p:nvPr/>
        </p:nvSpPr>
        <p:spPr>
          <a:xfrm>
            <a:off x="812800" y="1880130"/>
            <a:ext cx="10566400" cy="4215871"/>
          </a:xfrm>
          <a:prstGeom prst="roundRect">
            <a:avLst>
              <a:gd name="adj" fmla="val 2410"/>
            </a:avLst>
          </a:prstGeom>
          <a:solidFill>
            <a:srgbClr val="0F172A"/>
          </a:solidFill>
          <a:ln/>
        </p:spPr>
      </p:sp>
      <p:sp>
        <p:nvSpPr>
          <p:cNvPr id="5" name="Text 3"/>
          <p:cNvSpPr/>
          <p:nvPr/>
        </p:nvSpPr>
        <p:spPr>
          <a:xfrm>
            <a:off x="1016000" y="2083330"/>
            <a:ext cx="104648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Create</a:t>
            </a:r>
            <a:endParaRPr lang="en-US" sz="1300" dirty="0"/>
          </a:p>
        </p:txBody>
      </p:sp>
      <p:sp>
        <p:nvSpPr>
          <p:cNvPr id="6" name="Text 4"/>
          <p:cNvSpPr/>
          <p:nvPr/>
        </p:nvSpPr>
        <p:spPr>
          <a:xfrm>
            <a:off x="1016000" y="2403345"/>
            <a:ext cx="10464800" cy="1397000"/>
          </a:xfrm>
          <a:prstGeom prst="rect">
            <a:avLst/>
          </a:prstGeom>
          <a:noFill/>
          <a:ln/>
        </p:spPr>
        <p:txBody>
          <a:bodyPr wrap="square" lIns="0" tIns="0" rIns="0" bIns="0" rtlCol="0" anchor="t">
            <a:normAutofit/>
          </a:bodyPr>
          <a:lstStyle/>
          <a:p>
            <a:pPr algn="l" indent="0" marL="0">
              <a:lnSpc>
                <a:spcPts val="2700"/>
              </a:lnSpc>
              <a:buNone/>
            </a:pPr>
            <a:r>
              <a:rPr lang="en-US" sz="1800" dirty="0">
                <a:solidFill>
                  <a:srgbClr val="FDE68A"/>
                </a:solidFill>
                <a:latin typeface="Courier New" pitchFamily="49" charset="0"/>
                <a:ea typeface="Courier New" pitchFamily="49" charset="-122"/>
                <a:cs typeface="Courier New" pitchFamily="49" charset="-120"/>
              </a:rPr>
              <a:t>numbers = [10, 20, 30, 40]</a:t>
            </a:r>
            <a:endParaRPr lang="en-US" sz="1800" dirty="0"/>
          </a:p>
          <a:p>
            <a:pPr algn="l" indent="0" marL="0">
              <a:lnSpc>
                <a:spcPts val="2700"/>
              </a:lnSpc>
              <a:buNone/>
            </a:pPr>
            <a:r>
              <a:rPr lang="en-US" sz="1800" dirty="0">
                <a:solidFill>
                  <a:srgbClr val="FDE68A"/>
                </a:solidFill>
                <a:latin typeface="Courier New" pitchFamily="49" charset="0"/>
                <a:ea typeface="Courier New" pitchFamily="49" charset="-122"/>
                <a:cs typeface="Courier New" pitchFamily="49" charset="-120"/>
              </a:rPr>
              <a:t>names = ["Aman", "Riya", "John"]</a:t>
            </a:r>
            <a:endParaRPr lang="en-US" sz="1800" dirty="0"/>
          </a:p>
          <a:p>
            <a:pPr algn="l" indent="0" marL="0">
              <a:lnSpc>
                <a:spcPts val="2700"/>
              </a:lnSpc>
              <a:buNone/>
            </a:pPr>
            <a:r>
              <a:rPr lang="en-US" sz="1800" dirty="0">
                <a:solidFill>
                  <a:srgbClr val="FDE68A"/>
                </a:solidFill>
                <a:latin typeface="Courier New" pitchFamily="49" charset="0"/>
                <a:ea typeface="Courier New" pitchFamily="49" charset="-122"/>
                <a:cs typeface="Courier New" pitchFamily="49" charset="-120"/>
              </a:rPr>
              <a:t>mixed = [1, "Hi", 3.5, True]</a:t>
            </a:r>
            <a:endParaRPr lang="en-US" sz="1800" dirty="0"/>
          </a:p>
          <a:p>
            <a:pPr algn="l" indent="0" marL="0">
              <a:lnSpc>
                <a:spcPts val="2700"/>
              </a:lnSpc>
              <a:buNone/>
            </a:pPr>
            <a:r>
              <a:rPr lang="en-US" sz="1800" dirty="0">
                <a:solidFill>
                  <a:srgbClr val="FDE68A"/>
                </a:solidFill>
                <a:latin typeface="Courier New" pitchFamily="49" charset="0"/>
                <a:ea typeface="Courier New" pitchFamily="49" charset="-122"/>
                <a:cs typeface="Courier New" pitchFamily="49" charset="-120"/>
              </a:rPr>
              <a:t>empty = []</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ph type="title"/>
          </p:nvPr>
        </p:nvSpPr>
        <p:spPr>
          <a:xfrm>
            <a:off x="812800" y="698500"/>
            <a:ext cx="10883392" cy="500327"/>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0F172A"/>
                </a:solidFill>
                <a:latin typeface="Arial" pitchFamily="34" charset="0"/>
                <a:ea typeface="Arial" pitchFamily="34" charset="-122"/>
                <a:cs typeface="Arial" pitchFamily="34" charset="-120"/>
              </a:rPr>
              <a:t>Access &amp; Change items</a:t>
            </a:r>
            <a:endParaRPr lang="en-US" sz="3400" dirty="0"/>
          </a:p>
        </p:txBody>
      </p:sp>
      <p:sp>
        <p:nvSpPr>
          <p:cNvPr id="3" name="Text 1"/>
          <p:cNvSpPr/>
          <p:nvPr/>
        </p:nvSpPr>
        <p:spPr>
          <a:xfrm>
            <a:off x="812800" y="1363929"/>
            <a:ext cx="10883392" cy="351102"/>
          </a:xfrm>
          <a:prstGeom prst="rect">
            <a:avLst/>
          </a:prstGeom>
          <a:noFill/>
          <a:ln/>
        </p:spPr>
        <p:txBody>
          <a:bodyPr wrap="square" lIns="0" tIns="0" rIns="0" bIns="0" rtlCol="0" anchor="t">
            <a:normAutofit/>
          </a:bodyPr>
          <a:lstStyle/>
          <a:p>
            <a:pPr algn="l" indent="0" marL="0">
              <a:lnSpc>
                <a:spcPts val="2565"/>
              </a:lnSpc>
              <a:buNone/>
            </a:pPr>
            <a:r>
              <a:rPr lang="en-US" sz="1900" dirty="0">
                <a:solidFill>
                  <a:srgbClr val="0F172A"/>
                </a:solidFill>
                <a:latin typeface="Arial" pitchFamily="34" charset="0"/>
                <a:ea typeface="Arial" pitchFamily="34" charset="-122"/>
                <a:cs typeface="Arial" pitchFamily="34" charset="-120"/>
              </a:rPr>
              <a:t>Index starts from </a:t>
            </a:r>
            <a:r>
              <a:rPr lang="en-US" sz="1900" b="1" dirty="0">
                <a:solidFill>
                  <a:srgbClr val="0F172A"/>
                </a:solidFill>
                <a:latin typeface="Arial" pitchFamily="34" charset="0"/>
                <a:ea typeface="Arial" pitchFamily="34" charset="-122"/>
                <a:cs typeface="Arial" pitchFamily="34" charset="-120"/>
              </a:rPr>
              <a:t>0</a:t>
            </a:r>
            <a:r>
              <a:rPr lang="en-US" sz="1900" dirty="0">
                <a:solidFill>
                  <a:srgbClr val="0F172A"/>
                </a:solidFill>
                <a:latin typeface="Arial" pitchFamily="34" charset="0"/>
                <a:ea typeface="Arial" pitchFamily="34" charset="-122"/>
                <a:cs typeface="Arial" pitchFamily="34" charset="-120"/>
              </a:rPr>
              <a:t>. Lists are </a:t>
            </a:r>
            <a:r>
              <a:rPr lang="en-US" sz="1900" b="1" dirty="0">
                <a:solidFill>
                  <a:srgbClr val="0F172A"/>
                </a:solidFill>
                <a:latin typeface="Arial" pitchFamily="34" charset="0"/>
                <a:ea typeface="Arial" pitchFamily="34" charset="-122"/>
                <a:cs typeface="Arial" pitchFamily="34" charset="-120"/>
              </a:rPr>
              <a:t>mutable</a:t>
            </a:r>
            <a:r>
              <a:rPr lang="en-US" sz="1900" dirty="0">
                <a:solidFill>
                  <a:srgbClr val="0F172A"/>
                </a:solidFill>
                <a:latin typeface="Arial" pitchFamily="34" charset="0"/>
                <a:ea typeface="Arial" pitchFamily="34" charset="-122"/>
                <a:cs typeface="Arial" pitchFamily="34" charset="-120"/>
              </a:rPr>
              <a:t>: we can change items after creating them.</a:t>
            </a:r>
            <a:endParaRPr lang="en-US" sz="1900" dirty="0"/>
          </a:p>
        </p:txBody>
      </p:sp>
      <p:sp>
        <p:nvSpPr>
          <p:cNvPr id="4" name="Text 2"/>
          <p:cNvSpPr/>
          <p:nvPr/>
        </p:nvSpPr>
        <p:spPr>
          <a:xfrm>
            <a:off x="822325" y="1889655"/>
            <a:ext cx="944761"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Apple</a:t>
            </a:r>
            <a:endParaRPr lang="en-US" sz="1700" dirty="0"/>
          </a:p>
        </p:txBody>
      </p:sp>
      <p:sp>
        <p:nvSpPr>
          <p:cNvPr id="5" name="Text 3"/>
          <p:cNvSpPr/>
          <p:nvPr/>
        </p:nvSpPr>
        <p:spPr>
          <a:xfrm>
            <a:off x="1226873" y="2432118"/>
            <a:ext cx="135599"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5569"/>
                </a:solidFill>
                <a:latin typeface="Arial" pitchFamily="34" charset="0"/>
                <a:ea typeface="Arial" pitchFamily="34" charset="-122"/>
                <a:cs typeface="Arial" pitchFamily="34" charset="-120"/>
              </a:rPr>
              <a:t>0</a:t>
            </a:r>
            <a:endParaRPr lang="en-US" sz="1200" dirty="0"/>
          </a:p>
        </p:txBody>
      </p:sp>
      <p:sp>
        <p:nvSpPr>
          <p:cNvPr id="6" name="Text 4"/>
          <p:cNvSpPr/>
          <p:nvPr/>
        </p:nvSpPr>
        <p:spPr>
          <a:xfrm>
            <a:off x="1849636" y="1889655"/>
            <a:ext cx="112494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Banana</a:t>
            </a:r>
            <a:endParaRPr lang="en-US" sz="1700" dirty="0"/>
          </a:p>
        </p:txBody>
      </p:sp>
      <p:sp>
        <p:nvSpPr>
          <p:cNvPr id="7" name="Text 5"/>
          <p:cNvSpPr/>
          <p:nvPr/>
        </p:nvSpPr>
        <p:spPr>
          <a:xfrm>
            <a:off x="2344275" y="2432118"/>
            <a:ext cx="135599"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5569"/>
                </a:solidFill>
                <a:latin typeface="Arial" pitchFamily="34" charset="0"/>
                <a:ea typeface="Arial" pitchFamily="34" charset="-122"/>
                <a:cs typeface="Arial" pitchFamily="34" charset="-120"/>
              </a:rPr>
              <a:t>1</a:t>
            </a:r>
            <a:endParaRPr lang="en-US" sz="1200" dirty="0"/>
          </a:p>
        </p:txBody>
      </p:sp>
      <p:sp>
        <p:nvSpPr>
          <p:cNvPr id="8" name="Text 6"/>
          <p:cNvSpPr/>
          <p:nvPr/>
        </p:nvSpPr>
        <p:spPr>
          <a:xfrm>
            <a:off x="3057128" y="1889655"/>
            <a:ext cx="1040606"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Mango</a:t>
            </a:r>
            <a:endParaRPr lang="en-US" sz="1700" dirty="0"/>
          </a:p>
        </p:txBody>
      </p:sp>
      <p:sp>
        <p:nvSpPr>
          <p:cNvPr id="9" name="Text 7"/>
          <p:cNvSpPr/>
          <p:nvPr/>
        </p:nvSpPr>
        <p:spPr>
          <a:xfrm>
            <a:off x="3509632" y="2432118"/>
            <a:ext cx="135599"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5569"/>
                </a:solidFill>
                <a:latin typeface="Arial" pitchFamily="34" charset="0"/>
                <a:ea typeface="Arial" pitchFamily="34" charset="-122"/>
                <a:cs typeface="Arial" pitchFamily="34" charset="-120"/>
              </a:rPr>
              <a:t>2</a:t>
            </a:r>
            <a:endParaRPr lang="en-US" sz="1200" dirty="0"/>
          </a:p>
        </p:txBody>
      </p:sp>
      <p:sp>
        <p:nvSpPr>
          <p:cNvPr id="10" name="Shape 8"/>
          <p:cNvSpPr/>
          <p:nvPr/>
        </p:nvSpPr>
        <p:spPr>
          <a:xfrm>
            <a:off x="812800" y="2835939"/>
            <a:ext cx="5181600" cy="1336014"/>
          </a:xfrm>
          <a:prstGeom prst="roundRect">
            <a:avLst>
              <a:gd name="adj" fmla="val 7605"/>
            </a:avLst>
          </a:prstGeom>
          <a:solidFill>
            <a:srgbClr val="0F172A"/>
          </a:solidFill>
          <a:ln/>
        </p:spPr>
      </p:sp>
      <p:sp>
        <p:nvSpPr>
          <p:cNvPr id="11" name="Text 9"/>
          <p:cNvSpPr/>
          <p:nvPr/>
        </p:nvSpPr>
        <p:spPr>
          <a:xfrm>
            <a:off x="1016000" y="3039139"/>
            <a:ext cx="491845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Access</a:t>
            </a:r>
            <a:endParaRPr lang="en-US" sz="1300" dirty="0"/>
          </a:p>
        </p:txBody>
      </p:sp>
      <p:sp>
        <p:nvSpPr>
          <p:cNvPr id="12" name="Text 10"/>
          <p:cNvSpPr/>
          <p:nvPr/>
        </p:nvSpPr>
        <p:spPr>
          <a:xfrm>
            <a:off x="1016000" y="3359150"/>
            <a:ext cx="4918456"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DE68A"/>
                </a:solidFill>
                <a:latin typeface="Courier New" pitchFamily="49" charset="0"/>
                <a:ea typeface="Courier New" pitchFamily="49" charset="-122"/>
                <a:cs typeface="Courier New" pitchFamily="49" charset="-120"/>
              </a:rPr>
              <a:t>print(fruits[0]) # Apple</a:t>
            </a:r>
            <a:endParaRPr lang="en-US" sz="1600" dirty="0"/>
          </a:p>
          <a:p>
            <a:pPr algn="l" indent="0" marL="0">
              <a:lnSpc>
                <a:spcPts val="2400"/>
              </a:lnSpc>
              <a:buNone/>
            </a:pPr>
            <a:r>
              <a:rPr lang="en-US" sz="1600" dirty="0">
                <a:solidFill>
                  <a:srgbClr val="FDE68A"/>
                </a:solidFill>
                <a:latin typeface="Courier New" pitchFamily="49" charset="0"/>
                <a:ea typeface="Courier New" pitchFamily="49" charset="-122"/>
                <a:cs typeface="Courier New" pitchFamily="49" charset="-120"/>
              </a:rPr>
              <a:t>print(fruits[1]) # Banana</a:t>
            </a:r>
            <a:endParaRPr lang="en-US" sz="1600" dirty="0"/>
          </a:p>
        </p:txBody>
      </p:sp>
      <p:sp>
        <p:nvSpPr>
          <p:cNvPr id="13" name="Shape 11"/>
          <p:cNvSpPr/>
          <p:nvPr/>
        </p:nvSpPr>
        <p:spPr>
          <a:xfrm>
            <a:off x="6197600" y="2835939"/>
            <a:ext cx="5181600" cy="1336014"/>
          </a:xfrm>
          <a:prstGeom prst="roundRect">
            <a:avLst>
              <a:gd name="adj" fmla="val 7605"/>
            </a:avLst>
          </a:prstGeom>
          <a:solidFill>
            <a:srgbClr val="0F172A"/>
          </a:solidFill>
          <a:ln/>
        </p:spPr>
      </p:sp>
      <p:sp>
        <p:nvSpPr>
          <p:cNvPr id="14" name="Text 12"/>
          <p:cNvSpPr/>
          <p:nvPr/>
        </p:nvSpPr>
        <p:spPr>
          <a:xfrm>
            <a:off x="6400800" y="3039139"/>
            <a:ext cx="491845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Change</a:t>
            </a:r>
            <a:endParaRPr lang="en-US" sz="1300" dirty="0"/>
          </a:p>
        </p:txBody>
      </p:sp>
      <p:sp>
        <p:nvSpPr>
          <p:cNvPr id="15" name="Text 13"/>
          <p:cNvSpPr/>
          <p:nvPr/>
        </p:nvSpPr>
        <p:spPr>
          <a:xfrm>
            <a:off x="6400800" y="3359150"/>
            <a:ext cx="4918456"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DE68A"/>
                </a:solidFill>
                <a:latin typeface="Courier New" pitchFamily="49" charset="0"/>
                <a:ea typeface="Courier New" pitchFamily="49" charset="-122"/>
                <a:cs typeface="Courier New" pitchFamily="49" charset="-120"/>
              </a:rPr>
              <a:t>fruits[1] = "Orange"</a:t>
            </a:r>
            <a:endParaRPr lang="en-US" sz="1600" dirty="0"/>
          </a:p>
          <a:p>
            <a:pPr algn="l" indent="0" marL="0">
              <a:lnSpc>
                <a:spcPts val="2400"/>
              </a:lnSpc>
              <a:buNone/>
            </a:pPr>
            <a:r>
              <a:rPr lang="en-US" sz="1600" dirty="0">
                <a:solidFill>
                  <a:srgbClr val="FDE68A"/>
                </a:solidFill>
                <a:latin typeface="Courier New" pitchFamily="49" charset="0"/>
                <a:ea typeface="Courier New" pitchFamily="49" charset="-122"/>
                <a:cs typeface="Courier New" pitchFamily="49" charset="-120"/>
              </a:rPr>
              <a:t># ["Apple","Orange","Mango"]</a:t>
            </a:r>
            <a:endParaRPr lang="en-US" sz="1600" dirty="0"/>
          </a:p>
        </p:txBody>
      </p:sp>
      <p:sp>
        <p:nvSpPr>
          <p:cNvPr id="16" name="Text 14"/>
          <p:cNvSpPr/>
          <p:nvPr/>
        </p:nvSpPr>
        <p:spPr>
          <a:xfrm>
            <a:off x="812800" y="4362450"/>
            <a:ext cx="1088339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75569"/>
                </a:solidFill>
                <a:latin typeface="Arial" pitchFamily="34" charset="0"/>
                <a:ea typeface="Arial" pitchFamily="34" charset="-122"/>
                <a:cs typeface="Arial" pitchFamily="34" charset="-120"/>
              </a:rPr>
              <a:t>A list helps us store and manage multiple values in one place.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ph type="title"/>
          </p:nvPr>
        </p:nvSpPr>
        <p:spPr>
          <a:xfrm>
            <a:off x="812800" y="698500"/>
            <a:ext cx="10883392" cy="500327"/>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0F172A"/>
                </a:solidFill>
                <a:latin typeface="Arial" pitchFamily="34" charset="0"/>
                <a:ea typeface="Arial" pitchFamily="34" charset="-122"/>
                <a:cs typeface="Arial" pitchFamily="34" charset="-120"/>
              </a:rPr>
              <a:t>Python List Methods</a:t>
            </a:r>
            <a:endParaRPr lang="en-US" sz="3400" dirty="0"/>
          </a:p>
        </p:txBody>
      </p:sp>
      <p:sp>
        <p:nvSpPr>
          <p:cNvPr id="3" name="Text 1"/>
          <p:cNvSpPr/>
          <p:nvPr/>
        </p:nvSpPr>
        <p:spPr>
          <a:xfrm>
            <a:off x="812800" y="1363929"/>
            <a:ext cx="10883392" cy="316839"/>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0F172A"/>
                </a:solidFill>
                <a:latin typeface="Arial" pitchFamily="34" charset="0"/>
                <a:ea typeface="Arial" pitchFamily="34" charset="-122"/>
                <a:cs typeface="Arial" pitchFamily="34" charset="-120"/>
              </a:rPr>
              <a:t>A </a:t>
            </a:r>
            <a:r>
              <a:rPr lang="en-US" sz="1700" b="1" dirty="0">
                <a:solidFill>
                  <a:srgbClr val="0F172A"/>
                </a:solidFill>
                <a:latin typeface="Arial" pitchFamily="34" charset="0"/>
                <a:ea typeface="Arial" pitchFamily="34" charset="-122"/>
                <a:cs typeface="Arial" pitchFamily="34" charset="-120"/>
              </a:rPr>
              <a:t>list method</a:t>
            </a:r>
            <a:r>
              <a:rPr lang="en-US" sz="1700" dirty="0">
                <a:solidFill>
                  <a:srgbClr val="0F172A"/>
                </a:solidFill>
                <a:latin typeface="Arial" pitchFamily="34" charset="0"/>
                <a:ea typeface="Arial" pitchFamily="34" charset="-122"/>
                <a:cs typeface="Arial" pitchFamily="34" charset="-120"/>
              </a:rPr>
              <a:t> is a built-in function that works on a list.</a:t>
            </a:r>
            <a:endParaRPr lang="en-US" sz="17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58566"/>
          <a:ext cx="5168900" cy="3253317"/>
        </p:xfrm>
        <a:graphic>
          <a:graphicData uri="http://schemas.openxmlformats.org/drawingml/2006/table">
            <a:tbl>
              <a:tblPr/>
              <a:tblGrid>
                <a:gridCol w="1722967"/>
                <a:gridCol w="1722967"/>
                <a:gridCol w="1722967"/>
              </a:tblGrid>
              <a:tr h="424127">
                <a:tc>
                  <a:txBody>
                    <a:bodyPr/>
                    <a:lstStyle/>
                    <a:p>
                      <a:pPr indent="0" marL="0">
                        <a:lnSpc>
                          <a:spcPts val="2240"/>
                        </a:lnSpc>
                        <a:buNone/>
                      </a:pPr>
                      <a:r>
                        <a:rPr lang="en-US" sz="1600" b="1" dirty="0">
                          <a:solidFill>
                            <a:srgbClr val="FFFFFF"/>
                          </a:solidFill>
                          <a:latin typeface="Arial" pitchFamily="34" charset="0"/>
                          <a:ea typeface="Arial" pitchFamily="34" charset="-122"/>
                          <a:cs typeface="Arial" pitchFamily="34" charset="-120"/>
                        </a:rPr>
                        <a:t>Method</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B8B9BA"/>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B8B9BA"/>
                      </a:solidFill>
                      <a:prstDash val="solid"/>
                      <a:round/>
                      <a:headEnd type="none" w="med" len="med"/>
                      <a:tailEnd type="none" w="med" len="med"/>
                    </a:lnB>
                    <a:solidFill>
                      <a:srgbClr val="E6E8E9"/>
                    </a:solidFill>
                  </a:tcPr>
                </a:tc>
                <a:tc>
                  <a:txBody>
                    <a:bodyPr/>
                    <a:lstStyle/>
                    <a:p>
                      <a:pPr indent="0" marL="0">
                        <a:lnSpc>
                          <a:spcPts val="2240"/>
                        </a:lnSpc>
                        <a:buNone/>
                      </a:pPr>
                      <a:r>
                        <a:rPr lang="en-US" sz="1600" b="1" dirty="0">
                          <a:solidFill>
                            <a:srgbClr val="FFFFFF"/>
                          </a:solidFill>
                          <a:latin typeface="Arial" pitchFamily="34" charset="0"/>
                          <a:ea typeface="Arial" pitchFamily="34" charset="-122"/>
                          <a:cs typeface="Arial" pitchFamily="34" charset="-120"/>
                        </a:rPr>
                        <a:t>Purpose</a:t>
                      </a:r>
                      <a:endParaRPr lang="en-US" sz="1600" dirty="0">
                        <a:latin typeface="Arial" charset="0"/>
                        <a:ea typeface="Arial" charset="0"/>
                        <a:cs typeface="Arial" charset="0"/>
                      </a:endParaRPr>
                    </a:p>
                  </a:txBody>
                  <a:tcPr marL="88900" marR="88900" marT="63500" marB="63500" anchor="t">
                    <a:lnL w="12700" cap="flat" cmpd="sng" algn="ctr">
                      <a:solidFill>
                        <a:srgbClr val="B8B9BA"/>
                      </a:solidFill>
                      <a:prstDash val="solid"/>
                      <a:round/>
                      <a:headEnd type="none" w="med" len="med"/>
                      <a:tailEnd type="none" w="med" len="med"/>
                    </a:lnL>
                    <a:lnR w="12700" cap="flat" cmpd="sng" algn="ctr">
                      <a:solidFill>
                        <a:srgbClr val="B8B9BA"/>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B8B9BA"/>
                      </a:solidFill>
                      <a:prstDash val="solid"/>
                      <a:round/>
                      <a:headEnd type="none" w="med" len="med"/>
                      <a:tailEnd type="none" w="med" len="med"/>
                    </a:lnB>
                    <a:solidFill>
                      <a:srgbClr val="E6E8E9"/>
                    </a:solidFill>
                  </a:tcPr>
                </a:tc>
                <a:tc>
                  <a:txBody>
                    <a:bodyPr/>
                    <a:lstStyle/>
                    <a:p>
                      <a:pPr indent="0" marL="0">
                        <a:lnSpc>
                          <a:spcPts val="2240"/>
                        </a:lnSpc>
                        <a:buNone/>
                      </a:pPr>
                      <a:r>
                        <a:rPr lang="en-US" sz="1600" b="1" dirty="0">
                          <a:solidFill>
                            <a:srgbClr val="FFFFFF"/>
                          </a:solidFill>
                          <a:latin typeface="Arial" pitchFamily="34" charset="0"/>
                          <a:ea typeface="Arial" pitchFamily="34" charset="-122"/>
                          <a:cs typeface="Arial" pitchFamily="34" charset="-120"/>
                        </a:rPr>
                        <a:t>Example</a:t>
                      </a:r>
                      <a:endParaRPr lang="en-US" sz="1600" dirty="0">
                        <a:latin typeface="Arial" charset="0"/>
                        <a:ea typeface="Arial" charset="0"/>
                        <a:cs typeface="Arial" charset="0"/>
                      </a:endParaRPr>
                    </a:p>
                  </a:txBody>
                  <a:tcPr marL="88900" marR="88900" marT="63500" marB="63500" anchor="t">
                    <a:lnL w="12700" cap="flat" cmpd="sng" algn="ctr">
                      <a:solidFill>
                        <a:srgbClr val="B8B9BA"/>
                      </a:solidFill>
                      <a:prstDash val="solid"/>
                      <a:round/>
                      <a:headEnd type="none" w="med" len="med"/>
                      <a:tailEnd type="none" w="med" len="med"/>
                    </a:lnL>
                    <a:lnR w="12700" cap="flat" cmpd="sng" algn="ctr">
                      <a:solidFill>
                        <a:srgbClr val="B8B9BA"/>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B8B9BA"/>
                      </a:solidFill>
                      <a:prstDash val="solid"/>
                      <a:round/>
                      <a:headEnd type="none" w="med" len="med"/>
                      <a:tailEnd type="none" w="med" len="med"/>
                    </a:lnB>
                    <a:solidFill>
                      <a:srgbClr val="E6E8E9"/>
                    </a:solidFill>
                  </a:tcPr>
                </a:tc>
              </a:tr>
              <a:tr h="424127">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append()</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B8B9BA"/>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Add one item</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B8B9BA"/>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a.append(10)</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B8B9BA"/>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r>
              <a:tr h="424127">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extend()</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Add many items</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a.extend([1,2])</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r>
              <a:tr h="424127">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insert()</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Add at position</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a.insert(1,10)</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r>
              <a:tr h="424127">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remove()</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Remove a value</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a.remove(10)</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r>
              <a:tr h="708554">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pop()</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Remove by index</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a.pop()</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r>
              <a:tr h="424127">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clear()</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Remove all</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a.clear()</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210300" y="1858566"/>
          <a:ext cx="5168900" cy="2544763"/>
        </p:xfrm>
        <a:graphic>
          <a:graphicData uri="http://schemas.openxmlformats.org/drawingml/2006/table">
            <a:tbl>
              <a:tblPr/>
              <a:tblGrid>
                <a:gridCol w="1722967"/>
                <a:gridCol w="1722967"/>
                <a:gridCol w="1722967"/>
              </a:tblGrid>
              <a:tr h="424127">
                <a:tc>
                  <a:txBody>
                    <a:bodyPr/>
                    <a:lstStyle/>
                    <a:p>
                      <a:pPr indent="0" marL="0">
                        <a:lnSpc>
                          <a:spcPts val="2240"/>
                        </a:lnSpc>
                        <a:buNone/>
                      </a:pPr>
                      <a:r>
                        <a:rPr lang="en-US" sz="1600" b="1" dirty="0">
                          <a:solidFill>
                            <a:srgbClr val="FFFFFF"/>
                          </a:solidFill>
                          <a:latin typeface="Arial" pitchFamily="34" charset="0"/>
                          <a:ea typeface="Arial" pitchFamily="34" charset="-122"/>
                          <a:cs typeface="Arial" pitchFamily="34" charset="-120"/>
                        </a:rPr>
                        <a:t>Method</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B8B9BA"/>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B8B9BA"/>
                      </a:solidFill>
                      <a:prstDash val="solid"/>
                      <a:round/>
                      <a:headEnd type="none" w="med" len="med"/>
                      <a:tailEnd type="none" w="med" len="med"/>
                    </a:lnB>
                    <a:solidFill>
                      <a:srgbClr val="E6E8E9"/>
                    </a:solidFill>
                  </a:tcPr>
                </a:tc>
                <a:tc>
                  <a:txBody>
                    <a:bodyPr/>
                    <a:lstStyle/>
                    <a:p>
                      <a:pPr indent="0" marL="0">
                        <a:lnSpc>
                          <a:spcPts val="2240"/>
                        </a:lnSpc>
                        <a:buNone/>
                      </a:pPr>
                      <a:r>
                        <a:rPr lang="en-US" sz="1600" b="1" dirty="0">
                          <a:solidFill>
                            <a:srgbClr val="FFFFFF"/>
                          </a:solidFill>
                          <a:latin typeface="Arial" pitchFamily="34" charset="0"/>
                          <a:ea typeface="Arial" pitchFamily="34" charset="-122"/>
                          <a:cs typeface="Arial" pitchFamily="34" charset="-120"/>
                        </a:rPr>
                        <a:t>Purpose</a:t>
                      </a:r>
                      <a:endParaRPr lang="en-US" sz="1600" dirty="0">
                        <a:latin typeface="Arial" charset="0"/>
                        <a:ea typeface="Arial" charset="0"/>
                        <a:cs typeface="Arial" charset="0"/>
                      </a:endParaRPr>
                    </a:p>
                  </a:txBody>
                  <a:tcPr marL="88900" marR="88900" marT="63500" marB="63500" anchor="t">
                    <a:lnL w="12700" cap="flat" cmpd="sng" algn="ctr">
                      <a:solidFill>
                        <a:srgbClr val="B8B9BA"/>
                      </a:solidFill>
                      <a:prstDash val="solid"/>
                      <a:round/>
                      <a:headEnd type="none" w="med" len="med"/>
                      <a:tailEnd type="none" w="med" len="med"/>
                    </a:lnL>
                    <a:lnR w="12700" cap="flat" cmpd="sng" algn="ctr">
                      <a:solidFill>
                        <a:srgbClr val="B8B9BA"/>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B8B9BA"/>
                      </a:solidFill>
                      <a:prstDash val="solid"/>
                      <a:round/>
                      <a:headEnd type="none" w="med" len="med"/>
                      <a:tailEnd type="none" w="med" len="med"/>
                    </a:lnB>
                    <a:solidFill>
                      <a:srgbClr val="E6E8E9"/>
                    </a:solidFill>
                  </a:tcPr>
                </a:tc>
                <a:tc>
                  <a:txBody>
                    <a:bodyPr/>
                    <a:lstStyle/>
                    <a:p>
                      <a:pPr indent="0" marL="0">
                        <a:lnSpc>
                          <a:spcPts val="2240"/>
                        </a:lnSpc>
                        <a:buNone/>
                      </a:pPr>
                      <a:r>
                        <a:rPr lang="en-US" sz="1600" b="1" dirty="0">
                          <a:solidFill>
                            <a:srgbClr val="FFFFFF"/>
                          </a:solidFill>
                          <a:latin typeface="Arial" pitchFamily="34" charset="0"/>
                          <a:ea typeface="Arial" pitchFamily="34" charset="-122"/>
                          <a:cs typeface="Arial" pitchFamily="34" charset="-120"/>
                        </a:rPr>
                        <a:t>Example</a:t>
                      </a:r>
                      <a:endParaRPr lang="en-US" sz="1600" dirty="0">
                        <a:latin typeface="Arial" charset="0"/>
                        <a:ea typeface="Arial" charset="0"/>
                        <a:cs typeface="Arial" charset="0"/>
                      </a:endParaRPr>
                    </a:p>
                  </a:txBody>
                  <a:tcPr marL="88900" marR="88900" marT="63500" marB="63500" anchor="t">
                    <a:lnL w="12700" cap="flat" cmpd="sng" algn="ctr">
                      <a:solidFill>
                        <a:srgbClr val="B8B9BA"/>
                      </a:solidFill>
                      <a:prstDash val="solid"/>
                      <a:round/>
                      <a:headEnd type="none" w="med" len="med"/>
                      <a:tailEnd type="none" w="med" len="med"/>
                    </a:lnL>
                    <a:lnR w="12700" cap="flat" cmpd="sng" algn="ctr">
                      <a:solidFill>
                        <a:srgbClr val="B8B9BA"/>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B8B9BA"/>
                      </a:solidFill>
                      <a:prstDash val="solid"/>
                      <a:round/>
                      <a:headEnd type="none" w="med" len="med"/>
                      <a:tailEnd type="none" w="med" len="med"/>
                    </a:lnB>
                    <a:solidFill>
                      <a:srgbClr val="E6E8E9"/>
                    </a:solidFill>
                  </a:tcPr>
                </a:tc>
              </a:tr>
              <a:tr h="424127">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index()</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B8B9BA"/>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Find position</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B8B9BA"/>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a.index(10)</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B8B9BA"/>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r>
              <a:tr h="424127">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count()</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Count a value</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a.count(10)</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r>
              <a:tr h="424127">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sort()</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Sort the list</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a.sort()</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r>
              <a:tr h="424127">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reverse()</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Reverse list</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a.reverse()</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r>
              <a:tr h="424127">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copy()</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Shallow copy</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b = a.copy()</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ph type="title"/>
          </p:nvPr>
        </p:nvSpPr>
        <p:spPr>
          <a:xfrm>
            <a:off x="812800" y="698500"/>
            <a:ext cx="10883392" cy="500327"/>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0F172A"/>
                </a:solidFill>
                <a:latin typeface="Arial" pitchFamily="34" charset="0"/>
                <a:ea typeface="Arial" pitchFamily="34" charset="-122"/>
                <a:cs typeface="Arial" pitchFamily="34" charset="-120"/>
              </a:rPr>
              <a:t>Memory: Adding items</a:t>
            </a:r>
            <a:endParaRPr lang="en-US" sz="3400" dirty="0"/>
          </a:p>
        </p:txBody>
      </p:sp>
      <p:sp>
        <p:nvSpPr>
          <p:cNvPr id="3" name="Text 1"/>
          <p:cNvSpPr/>
          <p:nvPr/>
        </p:nvSpPr>
        <p:spPr>
          <a:xfrm>
            <a:off x="812800" y="1363929"/>
            <a:ext cx="1088339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75569"/>
                </a:solidFill>
                <a:latin typeface="Arial" pitchFamily="34" charset="0"/>
                <a:ea typeface="Arial" pitchFamily="34" charset="-122"/>
                <a:cs typeface="Arial" pitchFamily="34" charset="-120"/>
              </a:rPr>
              <a:t>Start with </a:t>
            </a:r>
            <a:r>
              <a:rPr lang="en-US" sz="1500" b="1" dirty="0">
                <a:solidFill>
                  <a:srgbClr val="475569"/>
                </a:solidFill>
                <a:latin typeface="Arial" pitchFamily="34" charset="0"/>
                <a:ea typeface="Arial" pitchFamily="34" charset="-122"/>
                <a:cs typeface="Arial" pitchFamily="34" charset="-120"/>
              </a:rPr>
              <a:t>a = [30, 10, 20]</a:t>
            </a:r>
            <a:r>
              <a:rPr lang="en-US" sz="1500" dirty="0">
                <a:solidFill>
                  <a:srgbClr val="475569"/>
                </a:solidFill>
                <a:latin typeface="Arial" pitchFamily="34" charset="0"/>
                <a:ea typeface="Arial" pitchFamily="34" charset="-122"/>
                <a:cs typeface="Arial" pitchFamily="34" charset="-120"/>
              </a:rPr>
              <a:t>. Yellow = what changed in memory.</a:t>
            </a:r>
            <a:endParaRPr lang="en-US" sz="1500" dirty="0"/>
          </a:p>
        </p:txBody>
      </p:sp>
      <p:sp>
        <p:nvSpPr>
          <p:cNvPr id="4" name="Text 2"/>
          <p:cNvSpPr/>
          <p:nvPr/>
        </p:nvSpPr>
        <p:spPr>
          <a:xfrm>
            <a:off x="812800" y="1811604"/>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776AB"/>
                </a:solidFill>
                <a:latin typeface="Courier New" pitchFamily="49" charset="0"/>
                <a:ea typeface="Courier New" pitchFamily="49" charset="-122"/>
                <a:cs typeface="Courier New" pitchFamily="49" charset="-120"/>
              </a:rPr>
              <a:t>a.append(40) </a:t>
            </a:r>
            <a:r>
              <a:rPr lang="en-US" sz="1500" b="1" dirty="0">
                <a:solidFill>
                  <a:srgbClr val="475569"/>
                </a:solidFill>
                <a:latin typeface="Courier New" pitchFamily="49" charset="0"/>
                <a:ea typeface="Courier New" pitchFamily="49" charset="-122"/>
                <a:cs typeface="Courier New" pitchFamily="49" charset="-120"/>
              </a:rPr>
              <a:t>adds at the end</a:t>
            </a:r>
            <a:endParaRPr lang="en-US" sz="1500" dirty="0"/>
          </a:p>
        </p:txBody>
      </p:sp>
      <p:sp>
        <p:nvSpPr>
          <p:cNvPr id="5" name="Text 3"/>
          <p:cNvSpPr/>
          <p:nvPr/>
        </p:nvSpPr>
        <p:spPr>
          <a:xfrm>
            <a:off x="822325" y="2138629"/>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30</a:t>
            </a:r>
            <a:endParaRPr lang="en-US" sz="1700" dirty="0"/>
          </a:p>
        </p:txBody>
      </p:sp>
      <p:sp>
        <p:nvSpPr>
          <p:cNvPr id="6" name="Text 4"/>
          <p:cNvSpPr/>
          <p:nvPr/>
        </p:nvSpPr>
        <p:spPr>
          <a:xfrm>
            <a:off x="1490067" y="2138629"/>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10</a:t>
            </a:r>
            <a:endParaRPr lang="en-US" sz="1700" dirty="0"/>
          </a:p>
        </p:txBody>
      </p:sp>
      <p:sp>
        <p:nvSpPr>
          <p:cNvPr id="7" name="Text 5"/>
          <p:cNvSpPr/>
          <p:nvPr/>
        </p:nvSpPr>
        <p:spPr>
          <a:xfrm>
            <a:off x="2157809" y="2138629"/>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20</a:t>
            </a:r>
            <a:endParaRPr lang="en-US" sz="1700" dirty="0"/>
          </a:p>
        </p:txBody>
      </p:sp>
      <p:sp>
        <p:nvSpPr>
          <p:cNvPr id="8" name="Text 6"/>
          <p:cNvSpPr/>
          <p:nvPr/>
        </p:nvSpPr>
        <p:spPr>
          <a:xfrm>
            <a:off x="2904927" y="2190486"/>
            <a:ext cx="3352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3776AB"/>
                </a:solidFill>
                <a:latin typeface="Arial" pitchFamily="34" charset="0"/>
                <a:ea typeface="Arial" pitchFamily="34" charset="-122"/>
                <a:cs typeface="Arial" pitchFamily="34" charset="-120"/>
              </a:rPr>
              <a:t>→</a:t>
            </a:r>
            <a:endParaRPr lang="en-US" sz="2200" dirty="0"/>
          </a:p>
        </p:txBody>
      </p:sp>
      <p:sp>
        <p:nvSpPr>
          <p:cNvPr id="9" name="Text 7"/>
          <p:cNvSpPr/>
          <p:nvPr/>
        </p:nvSpPr>
        <p:spPr>
          <a:xfrm>
            <a:off x="3346252" y="2138629"/>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30</a:t>
            </a:r>
            <a:endParaRPr lang="en-US" sz="1700" dirty="0"/>
          </a:p>
        </p:txBody>
      </p:sp>
      <p:sp>
        <p:nvSpPr>
          <p:cNvPr id="10" name="Text 8"/>
          <p:cNvSpPr/>
          <p:nvPr/>
        </p:nvSpPr>
        <p:spPr>
          <a:xfrm>
            <a:off x="4013994" y="2138629"/>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10</a:t>
            </a:r>
            <a:endParaRPr lang="en-US" sz="1700" dirty="0"/>
          </a:p>
        </p:txBody>
      </p:sp>
      <p:sp>
        <p:nvSpPr>
          <p:cNvPr id="11" name="Text 9"/>
          <p:cNvSpPr/>
          <p:nvPr/>
        </p:nvSpPr>
        <p:spPr>
          <a:xfrm>
            <a:off x="4681736" y="2138629"/>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20</a:t>
            </a:r>
            <a:endParaRPr lang="en-US" sz="1700" dirty="0"/>
          </a:p>
        </p:txBody>
      </p:sp>
      <p:sp>
        <p:nvSpPr>
          <p:cNvPr id="12" name="Text 10"/>
          <p:cNvSpPr/>
          <p:nvPr/>
        </p:nvSpPr>
        <p:spPr>
          <a:xfrm>
            <a:off x="5349478" y="2138629"/>
            <a:ext cx="585192" cy="494837"/>
          </a:xfrm>
          <a:prstGeom prst="roundRect">
            <a:avLst>
              <a:gd name="adj" fmla="val 10908"/>
            </a:avLst>
          </a:prstGeom>
          <a:solidFill>
            <a:srgbClr val="FFD43B"/>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40</a:t>
            </a:r>
            <a:endParaRPr lang="en-US" sz="1700" dirty="0"/>
          </a:p>
        </p:txBody>
      </p:sp>
      <p:sp>
        <p:nvSpPr>
          <p:cNvPr id="13" name="Text 11"/>
          <p:cNvSpPr/>
          <p:nvPr/>
        </p:nvSpPr>
        <p:spPr>
          <a:xfrm>
            <a:off x="812800" y="2833489"/>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776AB"/>
                </a:solidFill>
                <a:latin typeface="Courier New" pitchFamily="49" charset="0"/>
                <a:ea typeface="Courier New" pitchFamily="49" charset="-122"/>
                <a:cs typeface="Courier New" pitchFamily="49" charset="-120"/>
              </a:rPr>
              <a:t>a.insert(1, 15) </a:t>
            </a:r>
            <a:r>
              <a:rPr lang="en-US" sz="1500" b="1" dirty="0">
                <a:solidFill>
                  <a:srgbClr val="475569"/>
                </a:solidFill>
                <a:latin typeface="Courier New" pitchFamily="49" charset="0"/>
                <a:ea typeface="Courier New" pitchFamily="49" charset="-122"/>
                <a:cs typeface="Courier New" pitchFamily="49" charset="-120"/>
              </a:rPr>
              <a:t>items shift right</a:t>
            </a:r>
            <a:endParaRPr lang="en-US" sz="1500" dirty="0"/>
          </a:p>
        </p:txBody>
      </p:sp>
      <p:sp>
        <p:nvSpPr>
          <p:cNvPr id="14" name="Text 12"/>
          <p:cNvSpPr/>
          <p:nvPr/>
        </p:nvSpPr>
        <p:spPr>
          <a:xfrm>
            <a:off x="822325" y="3160514"/>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30</a:t>
            </a:r>
            <a:endParaRPr lang="en-US" sz="1700" dirty="0"/>
          </a:p>
        </p:txBody>
      </p:sp>
      <p:sp>
        <p:nvSpPr>
          <p:cNvPr id="15" name="Text 13"/>
          <p:cNvSpPr/>
          <p:nvPr/>
        </p:nvSpPr>
        <p:spPr>
          <a:xfrm>
            <a:off x="1490067" y="3160514"/>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10</a:t>
            </a:r>
            <a:endParaRPr lang="en-US" sz="1700" dirty="0"/>
          </a:p>
        </p:txBody>
      </p:sp>
      <p:sp>
        <p:nvSpPr>
          <p:cNvPr id="16" name="Text 14"/>
          <p:cNvSpPr/>
          <p:nvPr/>
        </p:nvSpPr>
        <p:spPr>
          <a:xfrm>
            <a:off x="2157809" y="3160514"/>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20</a:t>
            </a:r>
            <a:endParaRPr lang="en-US" sz="1700" dirty="0"/>
          </a:p>
        </p:txBody>
      </p:sp>
      <p:sp>
        <p:nvSpPr>
          <p:cNvPr id="17" name="Text 15"/>
          <p:cNvSpPr/>
          <p:nvPr/>
        </p:nvSpPr>
        <p:spPr>
          <a:xfrm>
            <a:off x="2904927" y="3212374"/>
            <a:ext cx="3352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3776AB"/>
                </a:solidFill>
                <a:latin typeface="Arial" pitchFamily="34" charset="0"/>
                <a:ea typeface="Arial" pitchFamily="34" charset="-122"/>
                <a:cs typeface="Arial" pitchFamily="34" charset="-120"/>
              </a:rPr>
              <a:t>→</a:t>
            </a:r>
            <a:endParaRPr lang="en-US" sz="2200" dirty="0"/>
          </a:p>
        </p:txBody>
      </p:sp>
      <p:sp>
        <p:nvSpPr>
          <p:cNvPr id="18" name="Text 16"/>
          <p:cNvSpPr/>
          <p:nvPr/>
        </p:nvSpPr>
        <p:spPr>
          <a:xfrm>
            <a:off x="3346252" y="3160514"/>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30</a:t>
            </a:r>
            <a:endParaRPr lang="en-US" sz="1700" dirty="0"/>
          </a:p>
        </p:txBody>
      </p:sp>
      <p:sp>
        <p:nvSpPr>
          <p:cNvPr id="19" name="Text 17"/>
          <p:cNvSpPr/>
          <p:nvPr/>
        </p:nvSpPr>
        <p:spPr>
          <a:xfrm>
            <a:off x="4013994" y="3160514"/>
            <a:ext cx="585192" cy="494837"/>
          </a:xfrm>
          <a:prstGeom prst="roundRect">
            <a:avLst>
              <a:gd name="adj" fmla="val 10908"/>
            </a:avLst>
          </a:prstGeom>
          <a:solidFill>
            <a:srgbClr val="FFD43B"/>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15</a:t>
            </a:r>
            <a:endParaRPr lang="en-US" sz="1700" dirty="0"/>
          </a:p>
        </p:txBody>
      </p:sp>
      <p:sp>
        <p:nvSpPr>
          <p:cNvPr id="20" name="Text 18"/>
          <p:cNvSpPr/>
          <p:nvPr/>
        </p:nvSpPr>
        <p:spPr>
          <a:xfrm>
            <a:off x="4681736" y="3160514"/>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10</a:t>
            </a:r>
            <a:endParaRPr lang="en-US" sz="1700" dirty="0"/>
          </a:p>
        </p:txBody>
      </p:sp>
      <p:sp>
        <p:nvSpPr>
          <p:cNvPr id="21" name="Text 19"/>
          <p:cNvSpPr/>
          <p:nvPr/>
        </p:nvSpPr>
        <p:spPr>
          <a:xfrm>
            <a:off x="5349478" y="3160514"/>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20</a:t>
            </a:r>
            <a:endParaRPr lang="en-US" sz="1700" dirty="0"/>
          </a:p>
        </p:txBody>
      </p:sp>
      <p:sp>
        <p:nvSpPr>
          <p:cNvPr id="22" name="Text 20"/>
          <p:cNvSpPr/>
          <p:nvPr/>
        </p:nvSpPr>
        <p:spPr>
          <a:xfrm>
            <a:off x="812800" y="3855377"/>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776AB"/>
                </a:solidFill>
                <a:latin typeface="Courier New" pitchFamily="49" charset="0"/>
                <a:ea typeface="Courier New" pitchFamily="49" charset="-122"/>
                <a:cs typeface="Courier New" pitchFamily="49" charset="-120"/>
              </a:rPr>
              <a:t>a.extend([40, 50]) </a:t>
            </a:r>
            <a:r>
              <a:rPr lang="en-US" sz="1500" b="1" dirty="0">
                <a:solidFill>
                  <a:srgbClr val="475569"/>
                </a:solidFill>
                <a:latin typeface="Courier New" pitchFamily="49" charset="0"/>
                <a:ea typeface="Courier New" pitchFamily="49" charset="-122"/>
                <a:cs typeface="Courier New" pitchFamily="49" charset="-120"/>
              </a:rPr>
              <a:t>adds many at the end</a:t>
            </a:r>
            <a:endParaRPr lang="en-US" sz="1500" dirty="0"/>
          </a:p>
        </p:txBody>
      </p:sp>
      <p:sp>
        <p:nvSpPr>
          <p:cNvPr id="23" name="Text 21"/>
          <p:cNvSpPr/>
          <p:nvPr/>
        </p:nvSpPr>
        <p:spPr>
          <a:xfrm>
            <a:off x="822325" y="4182405"/>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30</a:t>
            </a:r>
            <a:endParaRPr lang="en-US" sz="1700" dirty="0"/>
          </a:p>
        </p:txBody>
      </p:sp>
      <p:sp>
        <p:nvSpPr>
          <p:cNvPr id="24" name="Text 22"/>
          <p:cNvSpPr/>
          <p:nvPr/>
        </p:nvSpPr>
        <p:spPr>
          <a:xfrm>
            <a:off x="1490067" y="4182405"/>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10</a:t>
            </a:r>
            <a:endParaRPr lang="en-US" sz="1700" dirty="0"/>
          </a:p>
        </p:txBody>
      </p:sp>
      <p:sp>
        <p:nvSpPr>
          <p:cNvPr id="25" name="Text 23"/>
          <p:cNvSpPr/>
          <p:nvPr/>
        </p:nvSpPr>
        <p:spPr>
          <a:xfrm>
            <a:off x="2157809" y="4182405"/>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20</a:t>
            </a:r>
            <a:endParaRPr lang="en-US" sz="1700" dirty="0"/>
          </a:p>
        </p:txBody>
      </p:sp>
      <p:sp>
        <p:nvSpPr>
          <p:cNvPr id="26" name="Text 24"/>
          <p:cNvSpPr/>
          <p:nvPr/>
        </p:nvSpPr>
        <p:spPr>
          <a:xfrm>
            <a:off x="2904927" y="4234259"/>
            <a:ext cx="3352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3776AB"/>
                </a:solidFill>
                <a:latin typeface="Arial" pitchFamily="34" charset="0"/>
                <a:ea typeface="Arial" pitchFamily="34" charset="-122"/>
                <a:cs typeface="Arial" pitchFamily="34" charset="-120"/>
              </a:rPr>
              <a:t>→</a:t>
            </a:r>
            <a:endParaRPr lang="en-US" sz="2200" dirty="0"/>
          </a:p>
        </p:txBody>
      </p:sp>
      <p:sp>
        <p:nvSpPr>
          <p:cNvPr id="27" name="Text 25"/>
          <p:cNvSpPr/>
          <p:nvPr/>
        </p:nvSpPr>
        <p:spPr>
          <a:xfrm>
            <a:off x="3346252" y="4182405"/>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30</a:t>
            </a:r>
            <a:endParaRPr lang="en-US" sz="1700" dirty="0"/>
          </a:p>
        </p:txBody>
      </p:sp>
      <p:sp>
        <p:nvSpPr>
          <p:cNvPr id="28" name="Text 26"/>
          <p:cNvSpPr/>
          <p:nvPr/>
        </p:nvSpPr>
        <p:spPr>
          <a:xfrm>
            <a:off x="4013994" y="4182405"/>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10</a:t>
            </a:r>
            <a:endParaRPr lang="en-US" sz="1700" dirty="0"/>
          </a:p>
        </p:txBody>
      </p:sp>
      <p:sp>
        <p:nvSpPr>
          <p:cNvPr id="29" name="Text 27"/>
          <p:cNvSpPr/>
          <p:nvPr/>
        </p:nvSpPr>
        <p:spPr>
          <a:xfrm>
            <a:off x="4681736" y="4182405"/>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20</a:t>
            </a:r>
            <a:endParaRPr lang="en-US" sz="1700" dirty="0"/>
          </a:p>
        </p:txBody>
      </p:sp>
      <p:sp>
        <p:nvSpPr>
          <p:cNvPr id="30" name="Text 28"/>
          <p:cNvSpPr/>
          <p:nvPr/>
        </p:nvSpPr>
        <p:spPr>
          <a:xfrm>
            <a:off x="5349478" y="4182405"/>
            <a:ext cx="585192" cy="494837"/>
          </a:xfrm>
          <a:prstGeom prst="roundRect">
            <a:avLst>
              <a:gd name="adj" fmla="val 10908"/>
            </a:avLst>
          </a:prstGeom>
          <a:solidFill>
            <a:srgbClr val="FFD43B"/>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40</a:t>
            </a:r>
            <a:endParaRPr lang="en-US" sz="1700" dirty="0"/>
          </a:p>
        </p:txBody>
      </p:sp>
      <p:sp>
        <p:nvSpPr>
          <p:cNvPr id="31" name="Text 29"/>
          <p:cNvSpPr/>
          <p:nvPr/>
        </p:nvSpPr>
        <p:spPr>
          <a:xfrm>
            <a:off x="6017220" y="4182405"/>
            <a:ext cx="585192" cy="494837"/>
          </a:xfrm>
          <a:prstGeom prst="roundRect">
            <a:avLst>
              <a:gd name="adj" fmla="val 10908"/>
            </a:avLst>
          </a:prstGeom>
          <a:solidFill>
            <a:srgbClr val="FFD43B"/>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50</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ph type="title"/>
          </p:nvPr>
        </p:nvSpPr>
        <p:spPr>
          <a:xfrm>
            <a:off x="812800" y="698500"/>
            <a:ext cx="10883392" cy="500327"/>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0F172A"/>
                </a:solidFill>
                <a:latin typeface="Arial" pitchFamily="34" charset="0"/>
                <a:ea typeface="Arial" pitchFamily="34" charset="-122"/>
                <a:cs typeface="Arial" pitchFamily="34" charset="-120"/>
              </a:rPr>
              <a:t>Memory: Removing items</a:t>
            </a:r>
            <a:endParaRPr lang="en-US" sz="3400" dirty="0"/>
          </a:p>
        </p:txBody>
      </p:sp>
      <p:sp>
        <p:nvSpPr>
          <p:cNvPr id="3" name="Text 1"/>
          <p:cNvSpPr/>
          <p:nvPr/>
        </p:nvSpPr>
        <p:spPr>
          <a:xfrm>
            <a:off x="812800" y="1363929"/>
            <a:ext cx="1088339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75569"/>
                </a:solidFill>
                <a:latin typeface="Arial" pitchFamily="34" charset="0"/>
                <a:ea typeface="Arial" pitchFamily="34" charset="-122"/>
                <a:cs typeface="Arial" pitchFamily="34" charset="-120"/>
              </a:rPr>
              <a:t>Start with </a:t>
            </a:r>
            <a:r>
              <a:rPr lang="en-US" sz="1500" b="1" dirty="0">
                <a:solidFill>
                  <a:srgbClr val="475569"/>
                </a:solidFill>
                <a:latin typeface="Arial" pitchFamily="34" charset="0"/>
                <a:ea typeface="Arial" pitchFamily="34" charset="-122"/>
                <a:cs typeface="Arial" pitchFamily="34" charset="-120"/>
              </a:rPr>
              <a:t>a = [30, 10, 20, 10]</a:t>
            </a:r>
            <a:r>
              <a:rPr lang="en-US" sz="1500" dirty="0">
                <a:solidFill>
                  <a:srgbClr val="475569"/>
                </a:solidFill>
                <a:latin typeface="Arial" pitchFamily="34" charset="0"/>
                <a:ea typeface="Arial" pitchFamily="34" charset="-122"/>
                <a:cs typeface="Arial" pitchFamily="34" charset="-120"/>
              </a:rPr>
              <a:t>.</a:t>
            </a:r>
            <a:endParaRPr lang="en-US" sz="1500" dirty="0"/>
          </a:p>
        </p:txBody>
      </p:sp>
      <p:sp>
        <p:nvSpPr>
          <p:cNvPr id="4" name="Text 2"/>
          <p:cNvSpPr/>
          <p:nvPr/>
        </p:nvSpPr>
        <p:spPr>
          <a:xfrm>
            <a:off x="812800" y="1811604"/>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776AB"/>
                </a:solidFill>
                <a:latin typeface="Courier New" pitchFamily="49" charset="0"/>
                <a:ea typeface="Courier New" pitchFamily="49" charset="-122"/>
                <a:cs typeface="Courier New" pitchFamily="49" charset="-120"/>
              </a:rPr>
              <a:t>a.remove(10) </a:t>
            </a:r>
            <a:r>
              <a:rPr lang="en-US" sz="1500" b="1" dirty="0">
                <a:solidFill>
                  <a:srgbClr val="475569"/>
                </a:solidFill>
                <a:latin typeface="Courier New" pitchFamily="49" charset="0"/>
                <a:ea typeface="Courier New" pitchFamily="49" charset="-122"/>
                <a:cs typeface="Courier New" pitchFamily="49" charset="-120"/>
              </a:rPr>
              <a:t>first 10 removed, items shift left</a:t>
            </a:r>
            <a:endParaRPr lang="en-US" sz="1500" dirty="0"/>
          </a:p>
        </p:txBody>
      </p:sp>
      <p:sp>
        <p:nvSpPr>
          <p:cNvPr id="5" name="Text 3"/>
          <p:cNvSpPr/>
          <p:nvPr/>
        </p:nvSpPr>
        <p:spPr>
          <a:xfrm>
            <a:off x="822325" y="2138629"/>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30</a:t>
            </a:r>
            <a:endParaRPr lang="en-US" sz="1700" dirty="0"/>
          </a:p>
        </p:txBody>
      </p:sp>
      <p:sp>
        <p:nvSpPr>
          <p:cNvPr id="6" name="Text 4"/>
          <p:cNvSpPr/>
          <p:nvPr/>
        </p:nvSpPr>
        <p:spPr>
          <a:xfrm>
            <a:off x="1490067" y="2138629"/>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10</a:t>
            </a:r>
            <a:endParaRPr lang="en-US" sz="1700" dirty="0"/>
          </a:p>
        </p:txBody>
      </p:sp>
      <p:sp>
        <p:nvSpPr>
          <p:cNvPr id="7" name="Text 5"/>
          <p:cNvSpPr/>
          <p:nvPr/>
        </p:nvSpPr>
        <p:spPr>
          <a:xfrm>
            <a:off x="2157809" y="2138629"/>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20</a:t>
            </a:r>
            <a:endParaRPr lang="en-US" sz="1700" dirty="0"/>
          </a:p>
        </p:txBody>
      </p:sp>
      <p:sp>
        <p:nvSpPr>
          <p:cNvPr id="8" name="Text 6"/>
          <p:cNvSpPr/>
          <p:nvPr/>
        </p:nvSpPr>
        <p:spPr>
          <a:xfrm>
            <a:off x="2825552" y="2138629"/>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10</a:t>
            </a:r>
            <a:endParaRPr lang="en-US" sz="1700" dirty="0"/>
          </a:p>
        </p:txBody>
      </p:sp>
      <p:sp>
        <p:nvSpPr>
          <p:cNvPr id="9" name="Text 7"/>
          <p:cNvSpPr/>
          <p:nvPr/>
        </p:nvSpPr>
        <p:spPr>
          <a:xfrm>
            <a:off x="3572669" y="2190490"/>
            <a:ext cx="3352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3776AB"/>
                </a:solidFill>
                <a:latin typeface="Arial" pitchFamily="34" charset="0"/>
                <a:ea typeface="Arial" pitchFamily="34" charset="-122"/>
                <a:cs typeface="Arial" pitchFamily="34" charset="-120"/>
              </a:rPr>
              <a:t>→</a:t>
            </a:r>
            <a:endParaRPr lang="en-US" sz="2200" dirty="0"/>
          </a:p>
        </p:txBody>
      </p:sp>
      <p:sp>
        <p:nvSpPr>
          <p:cNvPr id="10" name="Text 8"/>
          <p:cNvSpPr/>
          <p:nvPr/>
        </p:nvSpPr>
        <p:spPr>
          <a:xfrm>
            <a:off x="4013994" y="2138629"/>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30</a:t>
            </a:r>
            <a:endParaRPr lang="en-US" sz="1700" dirty="0"/>
          </a:p>
        </p:txBody>
      </p:sp>
      <p:sp>
        <p:nvSpPr>
          <p:cNvPr id="11" name="Text 9"/>
          <p:cNvSpPr/>
          <p:nvPr/>
        </p:nvSpPr>
        <p:spPr>
          <a:xfrm>
            <a:off x="4681736" y="2138629"/>
            <a:ext cx="585192" cy="494837"/>
          </a:xfrm>
          <a:prstGeom prst="roundRect">
            <a:avLst>
              <a:gd name="adj" fmla="val 10908"/>
            </a:avLst>
          </a:prstGeom>
          <a:solidFill>
            <a:srgbClr val="FFD43B"/>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20</a:t>
            </a:r>
            <a:endParaRPr lang="en-US" sz="1700" dirty="0"/>
          </a:p>
        </p:txBody>
      </p:sp>
      <p:sp>
        <p:nvSpPr>
          <p:cNvPr id="12" name="Text 10"/>
          <p:cNvSpPr/>
          <p:nvPr/>
        </p:nvSpPr>
        <p:spPr>
          <a:xfrm>
            <a:off x="5349478" y="2138629"/>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10</a:t>
            </a:r>
            <a:endParaRPr lang="en-US" sz="1700" dirty="0"/>
          </a:p>
        </p:txBody>
      </p:sp>
      <p:sp>
        <p:nvSpPr>
          <p:cNvPr id="13" name="Text 11"/>
          <p:cNvSpPr/>
          <p:nvPr/>
        </p:nvSpPr>
        <p:spPr>
          <a:xfrm>
            <a:off x="812800" y="2833489"/>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776AB"/>
                </a:solidFill>
                <a:latin typeface="Courier New" pitchFamily="49" charset="0"/>
                <a:ea typeface="Courier New" pitchFamily="49" charset="-122"/>
                <a:cs typeface="Courier New" pitchFamily="49" charset="-120"/>
              </a:rPr>
              <a:t>a.pop() </a:t>
            </a:r>
            <a:r>
              <a:rPr lang="en-US" sz="1500" b="1" dirty="0">
                <a:solidFill>
                  <a:srgbClr val="475569"/>
                </a:solidFill>
                <a:latin typeface="Courier New" pitchFamily="49" charset="0"/>
                <a:ea typeface="Courier New" pitchFamily="49" charset="-122"/>
                <a:cs typeface="Courier New" pitchFamily="49" charset="-120"/>
              </a:rPr>
              <a:t>last item removed and returned</a:t>
            </a:r>
            <a:endParaRPr lang="en-US" sz="1500" dirty="0"/>
          </a:p>
        </p:txBody>
      </p:sp>
      <p:sp>
        <p:nvSpPr>
          <p:cNvPr id="14" name="Text 12"/>
          <p:cNvSpPr/>
          <p:nvPr/>
        </p:nvSpPr>
        <p:spPr>
          <a:xfrm>
            <a:off x="822325" y="3160514"/>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30</a:t>
            </a:r>
            <a:endParaRPr lang="en-US" sz="1700" dirty="0"/>
          </a:p>
        </p:txBody>
      </p:sp>
      <p:sp>
        <p:nvSpPr>
          <p:cNvPr id="15" name="Text 13"/>
          <p:cNvSpPr/>
          <p:nvPr/>
        </p:nvSpPr>
        <p:spPr>
          <a:xfrm>
            <a:off x="1490067" y="3160514"/>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10</a:t>
            </a:r>
            <a:endParaRPr lang="en-US" sz="1700" dirty="0"/>
          </a:p>
        </p:txBody>
      </p:sp>
      <p:sp>
        <p:nvSpPr>
          <p:cNvPr id="16" name="Text 14"/>
          <p:cNvSpPr/>
          <p:nvPr/>
        </p:nvSpPr>
        <p:spPr>
          <a:xfrm>
            <a:off x="2157809" y="3160514"/>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20</a:t>
            </a:r>
            <a:endParaRPr lang="en-US" sz="1700" dirty="0"/>
          </a:p>
        </p:txBody>
      </p:sp>
      <p:sp>
        <p:nvSpPr>
          <p:cNvPr id="17" name="Text 15"/>
          <p:cNvSpPr/>
          <p:nvPr/>
        </p:nvSpPr>
        <p:spPr>
          <a:xfrm>
            <a:off x="2825552" y="3160514"/>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10</a:t>
            </a:r>
            <a:endParaRPr lang="en-US" sz="1700" dirty="0"/>
          </a:p>
        </p:txBody>
      </p:sp>
      <p:sp>
        <p:nvSpPr>
          <p:cNvPr id="18" name="Text 16"/>
          <p:cNvSpPr/>
          <p:nvPr/>
        </p:nvSpPr>
        <p:spPr>
          <a:xfrm>
            <a:off x="3572669" y="3212374"/>
            <a:ext cx="3352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3776AB"/>
                </a:solidFill>
                <a:latin typeface="Arial" pitchFamily="34" charset="0"/>
                <a:ea typeface="Arial" pitchFamily="34" charset="-122"/>
                <a:cs typeface="Arial" pitchFamily="34" charset="-120"/>
              </a:rPr>
              <a:t>→</a:t>
            </a:r>
            <a:endParaRPr lang="en-US" sz="2200" dirty="0"/>
          </a:p>
        </p:txBody>
      </p:sp>
      <p:sp>
        <p:nvSpPr>
          <p:cNvPr id="19" name="Text 17"/>
          <p:cNvSpPr/>
          <p:nvPr/>
        </p:nvSpPr>
        <p:spPr>
          <a:xfrm>
            <a:off x="4013994" y="3160514"/>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30</a:t>
            </a:r>
            <a:endParaRPr lang="en-US" sz="1700" dirty="0"/>
          </a:p>
        </p:txBody>
      </p:sp>
      <p:sp>
        <p:nvSpPr>
          <p:cNvPr id="20" name="Text 18"/>
          <p:cNvSpPr/>
          <p:nvPr/>
        </p:nvSpPr>
        <p:spPr>
          <a:xfrm>
            <a:off x="4681736" y="3160514"/>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10</a:t>
            </a:r>
            <a:endParaRPr lang="en-US" sz="1700" dirty="0"/>
          </a:p>
        </p:txBody>
      </p:sp>
      <p:sp>
        <p:nvSpPr>
          <p:cNvPr id="21" name="Text 19"/>
          <p:cNvSpPr/>
          <p:nvPr/>
        </p:nvSpPr>
        <p:spPr>
          <a:xfrm>
            <a:off x="5349478" y="3160514"/>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20</a:t>
            </a:r>
            <a:endParaRPr lang="en-US" sz="1700" dirty="0"/>
          </a:p>
        </p:txBody>
      </p:sp>
      <p:sp>
        <p:nvSpPr>
          <p:cNvPr id="22" name="Text 20"/>
          <p:cNvSpPr/>
          <p:nvPr/>
        </p:nvSpPr>
        <p:spPr>
          <a:xfrm>
            <a:off x="812800" y="385538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776AB"/>
                </a:solidFill>
                <a:latin typeface="Courier New" pitchFamily="49" charset="0"/>
                <a:ea typeface="Courier New" pitchFamily="49" charset="-122"/>
                <a:cs typeface="Courier New" pitchFamily="49" charset="-120"/>
              </a:rPr>
              <a:t>a.clear() </a:t>
            </a:r>
            <a:r>
              <a:rPr lang="en-US" sz="1500" b="1" dirty="0">
                <a:solidFill>
                  <a:srgbClr val="475569"/>
                </a:solidFill>
                <a:latin typeface="Courier New" pitchFamily="49" charset="0"/>
                <a:ea typeface="Courier New" pitchFamily="49" charset="-122"/>
                <a:cs typeface="Courier New" pitchFamily="49" charset="-120"/>
              </a:rPr>
              <a:t>list stays, items gone</a:t>
            </a:r>
            <a:endParaRPr lang="en-US" sz="1500" dirty="0"/>
          </a:p>
        </p:txBody>
      </p:sp>
      <p:sp>
        <p:nvSpPr>
          <p:cNvPr id="23" name="Text 21"/>
          <p:cNvSpPr/>
          <p:nvPr/>
        </p:nvSpPr>
        <p:spPr>
          <a:xfrm>
            <a:off x="822325" y="4182405"/>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30</a:t>
            </a:r>
            <a:endParaRPr lang="en-US" sz="1700" dirty="0"/>
          </a:p>
        </p:txBody>
      </p:sp>
      <p:sp>
        <p:nvSpPr>
          <p:cNvPr id="24" name="Text 22"/>
          <p:cNvSpPr/>
          <p:nvPr/>
        </p:nvSpPr>
        <p:spPr>
          <a:xfrm>
            <a:off x="1490067" y="4182405"/>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10</a:t>
            </a:r>
            <a:endParaRPr lang="en-US" sz="1700" dirty="0"/>
          </a:p>
        </p:txBody>
      </p:sp>
      <p:sp>
        <p:nvSpPr>
          <p:cNvPr id="25" name="Text 23"/>
          <p:cNvSpPr/>
          <p:nvPr/>
        </p:nvSpPr>
        <p:spPr>
          <a:xfrm>
            <a:off x="2157809" y="4182405"/>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20</a:t>
            </a:r>
            <a:endParaRPr lang="en-US" sz="1700" dirty="0"/>
          </a:p>
        </p:txBody>
      </p:sp>
      <p:sp>
        <p:nvSpPr>
          <p:cNvPr id="26" name="Text 24"/>
          <p:cNvSpPr/>
          <p:nvPr/>
        </p:nvSpPr>
        <p:spPr>
          <a:xfrm>
            <a:off x="2825552" y="4182405"/>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10</a:t>
            </a:r>
            <a:endParaRPr lang="en-US" sz="1700" dirty="0"/>
          </a:p>
        </p:txBody>
      </p:sp>
      <p:sp>
        <p:nvSpPr>
          <p:cNvPr id="27" name="Text 25"/>
          <p:cNvSpPr/>
          <p:nvPr/>
        </p:nvSpPr>
        <p:spPr>
          <a:xfrm>
            <a:off x="3572669" y="4234259"/>
            <a:ext cx="3352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3776AB"/>
                </a:solidFill>
                <a:latin typeface="Arial" pitchFamily="34" charset="0"/>
                <a:ea typeface="Arial" pitchFamily="34" charset="-122"/>
                <a:cs typeface="Arial" pitchFamily="34" charset="-120"/>
              </a:rPr>
              <a:t>→</a:t>
            </a:r>
            <a:endParaRPr lang="en-US" sz="2200" dirty="0"/>
          </a:p>
        </p:txBody>
      </p:sp>
      <p:sp>
        <p:nvSpPr>
          <p:cNvPr id="28" name="Text 26"/>
          <p:cNvSpPr/>
          <p:nvPr/>
        </p:nvSpPr>
        <p:spPr>
          <a:xfrm>
            <a:off x="4004469" y="4305368"/>
            <a:ext cx="1256665"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776AB"/>
                </a:solidFill>
                <a:latin typeface="Arial" pitchFamily="34" charset="0"/>
                <a:ea typeface="Arial" pitchFamily="34" charset="-122"/>
                <a:cs typeface="Arial" pitchFamily="34" charset="-120"/>
              </a:rPr>
              <a:t>[ ] empty list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ph type="title"/>
          </p:nvPr>
        </p:nvSpPr>
        <p:spPr>
          <a:xfrm>
            <a:off x="812800" y="698500"/>
            <a:ext cx="10883392" cy="500327"/>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0F172A"/>
                </a:solidFill>
                <a:latin typeface="Arial" pitchFamily="34" charset="0"/>
                <a:ea typeface="Arial" pitchFamily="34" charset="-122"/>
                <a:cs typeface="Arial" pitchFamily="34" charset="-120"/>
              </a:rPr>
              <a:t>Memory: Sort, Reverse, Copy</a:t>
            </a:r>
            <a:endParaRPr lang="en-US" sz="3400" dirty="0"/>
          </a:p>
        </p:txBody>
      </p:sp>
      <p:sp>
        <p:nvSpPr>
          <p:cNvPr id="3" name="Text 1"/>
          <p:cNvSpPr/>
          <p:nvPr/>
        </p:nvSpPr>
        <p:spPr>
          <a:xfrm>
            <a:off x="812800" y="1363929"/>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776AB"/>
                </a:solidFill>
                <a:latin typeface="Courier New" pitchFamily="49" charset="0"/>
                <a:ea typeface="Courier New" pitchFamily="49" charset="-122"/>
                <a:cs typeface="Courier New" pitchFamily="49" charset="-120"/>
              </a:rPr>
              <a:t>a.sort() </a:t>
            </a:r>
            <a:r>
              <a:rPr lang="en-US" sz="1500" b="1" dirty="0">
                <a:solidFill>
                  <a:srgbClr val="475569"/>
                </a:solidFill>
                <a:latin typeface="Courier New" pitchFamily="49" charset="0"/>
                <a:ea typeface="Courier New" pitchFamily="49" charset="-122"/>
                <a:cs typeface="Courier New" pitchFamily="49" charset="-120"/>
              </a:rPr>
              <a:t>changes the same list</a:t>
            </a:r>
            <a:endParaRPr lang="en-US" sz="1500" dirty="0"/>
          </a:p>
        </p:txBody>
      </p:sp>
      <p:sp>
        <p:nvSpPr>
          <p:cNvPr id="4" name="Text 2"/>
          <p:cNvSpPr/>
          <p:nvPr/>
        </p:nvSpPr>
        <p:spPr>
          <a:xfrm>
            <a:off x="822325" y="1690954"/>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30</a:t>
            </a:r>
            <a:endParaRPr lang="en-US" sz="1700" dirty="0"/>
          </a:p>
        </p:txBody>
      </p:sp>
      <p:sp>
        <p:nvSpPr>
          <p:cNvPr id="5" name="Text 3"/>
          <p:cNvSpPr/>
          <p:nvPr/>
        </p:nvSpPr>
        <p:spPr>
          <a:xfrm>
            <a:off x="1490067" y="1690954"/>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10</a:t>
            </a:r>
            <a:endParaRPr lang="en-US" sz="1700" dirty="0"/>
          </a:p>
        </p:txBody>
      </p:sp>
      <p:sp>
        <p:nvSpPr>
          <p:cNvPr id="6" name="Text 4"/>
          <p:cNvSpPr/>
          <p:nvPr/>
        </p:nvSpPr>
        <p:spPr>
          <a:xfrm>
            <a:off x="2157809" y="1690954"/>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20</a:t>
            </a:r>
            <a:endParaRPr lang="en-US" sz="1700" dirty="0"/>
          </a:p>
        </p:txBody>
      </p:sp>
      <p:sp>
        <p:nvSpPr>
          <p:cNvPr id="7" name="Text 5"/>
          <p:cNvSpPr/>
          <p:nvPr/>
        </p:nvSpPr>
        <p:spPr>
          <a:xfrm>
            <a:off x="2904927" y="1742815"/>
            <a:ext cx="3352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3776AB"/>
                </a:solidFill>
                <a:latin typeface="Arial" pitchFamily="34" charset="0"/>
                <a:ea typeface="Arial" pitchFamily="34" charset="-122"/>
                <a:cs typeface="Arial" pitchFamily="34" charset="-120"/>
              </a:rPr>
              <a:t>→</a:t>
            </a:r>
            <a:endParaRPr lang="en-US" sz="2200" dirty="0"/>
          </a:p>
        </p:txBody>
      </p:sp>
      <p:sp>
        <p:nvSpPr>
          <p:cNvPr id="8" name="Text 6"/>
          <p:cNvSpPr/>
          <p:nvPr/>
        </p:nvSpPr>
        <p:spPr>
          <a:xfrm>
            <a:off x="3346252" y="1690954"/>
            <a:ext cx="585192" cy="494837"/>
          </a:xfrm>
          <a:prstGeom prst="roundRect">
            <a:avLst>
              <a:gd name="adj" fmla="val 10908"/>
            </a:avLst>
          </a:prstGeom>
          <a:solidFill>
            <a:srgbClr val="FFD43B"/>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10</a:t>
            </a:r>
            <a:endParaRPr lang="en-US" sz="1700" dirty="0"/>
          </a:p>
        </p:txBody>
      </p:sp>
      <p:sp>
        <p:nvSpPr>
          <p:cNvPr id="9" name="Text 7"/>
          <p:cNvSpPr/>
          <p:nvPr/>
        </p:nvSpPr>
        <p:spPr>
          <a:xfrm>
            <a:off x="4013994" y="1690954"/>
            <a:ext cx="585192" cy="494837"/>
          </a:xfrm>
          <a:prstGeom prst="roundRect">
            <a:avLst>
              <a:gd name="adj" fmla="val 10908"/>
            </a:avLst>
          </a:prstGeom>
          <a:solidFill>
            <a:srgbClr val="FFD43B"/>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20</a:t>
            </a:r>
            <a:endParaRPr lang="en-US" sz="1700" dirty="0"/>
          </a:p>
        </p:txBody>
      </p:sp>
      <p:sp>
        <p:nvSpPr>
          <p:cNvPr id="10" name="Text 8"/>
          <p:cNvSpPr/>
          <p:nvPr/>
        </p:nvSpPr>
        <p:spPr>
          <a:xfrm>
            <a:off x="4681736" y="1690954"/>
            <a:ext cx="585192" cy="494837"/>
          </a:xfrm>
          <a:prstGeom prst="roundRect">
            <a:avLst>
              <a:gd name="adj" fmla="val 10908"/>
            </a:avLst>
          </a:prstGeom>
          <a:solidFill>
            <a:srgbClr val="FFD43B"/>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30</a:t>
            </a:r>
            <a:endParaRPr lang="en-US" sz="1700" dirty="0"/>
          </a:p>
        </p:txBody>
      </p:sp>
      <p:sp>
        <p:nvSpPr>
          <p:cNvPr id="11" name="Text 9"/>
          <p:cNvSpPr/>
          <p:nvPr/>
        </p:nvSpPr>
        <p:spPr>
          <a:xfrm>
            <a:off x="812800" y="2385814"/>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776AB"/>
                </a:solidFill>
                <a:latin typeface="Courier New" pitchFamily="49" charset="0"/>
                <a:ea typeface="Courier New" pitchFamily="49" charset="-122"/>
                <a:cs typeface="Courier New" pitchFamily="49" charset="-120"/>
              </a:rPr>
              <a:t>a.reverse() </a:t>
            </a:r>
            <a:r>
              <a:rPr lang="en-US" sz="1500" b="1" dirty="0">
                <a:solidFill>
                  <a:srgbClr val="475569"/>
                </a:solidFill>
                <a:latin typeface="Courier New" pitchFamily="49" charset="0"/>
                <a:ea typeface="Courier New" pitchFamily="49" charset="-122"/>
                <a:cs typeface="Courier New" pitchFamily="49" charset="-120"/>
              </a:rPr>
              <a:t>order flipped in place</a:t>
            </a:r>
            <a:endParaRPr lang="en-US" sz="1500" dirty="0"/>
          </a:p>
        </p:txBody>
      </p:sp>
      <p:sp>
        <p:nvSpPr>
          <p:cNvPr id="12" name="Text 10"/>
          <p:cNvSpPr/>
          <p:nvPr/>
        </p:nvSpPr>
        <p:spPr>
          <a:xfrm>
            <a:off x="822325" y="2712839"/>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10</a:t>
            </a:r>
            <a:endParaRPr lang="en-US" sz="1700" dirty="0"/>
          </a:p>
        </p:txBody>
      </p:sp>
      <p:sp>
        <p:nvSpPr>
          <p:cNvPr id="13" name="Text 11"/>
          <p:cNvSpPr/>
          <p:nvPr/>
        </p:nvSpPr>
        <p:spPr>
          <a:xfrm>
            <a:off x="1490067" y="2712839"/>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20</a:t>
            </a:r>
            <a:endParaRPr lang="en-US" sz="1700" dirty="0"/>
          </a:p>
        </p:txBody>
      </p:sp>
      <p:sp>
        <p:nvSpPr>
          <p:cNvPr id="14" name="Text 12"/>
          <p:cNvSpPr/>
          <p:nvPr/>
        </p:nvSpPr>
        <p:spPr>
          <a:xfrm>
            <a:off x="2157809" y="2712839"/>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30</a:t>
            </a:r>
            <a:endParaRPr lang="en-US" sz="1700" dirty="0"/>
          </a:p>
        </p:txBody>
      </p:sp>
      <p:sp>
        <p:nvSpPr>
          <p:cNvPr id="15" name="Text 13"/>
          <p:cNvSpPr/>
          <p:nvPr/>
        </p:nvSpPr>
        <p:spPr>
          <a:xfrm>
            <a:off x="2904927" y="2764699"/>
            <a:ext cx="3352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3776AB"/>
                </a:solidFill>
                <a:latin typeface="Arial" pitchFamily="34" charset="0"/>
                <a:ea typeface="Arial" pitchFamily="34" charset="-122"/>
                <a:cs typeface="Arial" pitchFamily="34" charset="-120"/>
              </a:rPr>
              <a:t>→</a:t>
            </a:r>
            <a:endParaRPr lang="en-US" sz="2200" dirty="0"/>
          </a:p>
        </p:txBody>
      </p:sp>
      <p:sp>
        <p:nvSpPr>
          <p:cNvPr id="16" name="Text 14"/>
          <p:cNvSpPr/>
          <p:nvPr/>
        </p:nvSpPr>
        <p:spPr>
          <a:xfrm>
            <a:off x="3346252" y="2712839"/>
            <a:ext cx="585192" cy="494837"/>
          </a:xfrm>
          <a:prstGeom prst="roundRect">
            <a:avLst>
              <a:gd name="adj" fmla="val 10908"/>
            </a:avLst>
          </a:prstGeom>
          <a:solidFill>
            <a:srgbClr val="FFD43B"/>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30</a:t>
            </a:r>
            <a:endParaRPr lang="en-US" sz="1700" dirty="0"/>
          </a:p>
        </p:txBody>
      </p:sp>
      <p:sp>
        <p:nvSpPr>
          <p:cNvPr id="17" name="Text 15"/>
          <p:cNvSpPr/>
          <p:nvPr/>
        </p:nvSpPr>
        <p:spPr>
          <a:xfrm>
            <a:off x="4013994" y="2712839"/>
            <a:ext cx="585192" cy="494837"/>
          </a:xfrm>
          <a:prstGeom prst="roundRect">
            <a:avLst>
              <a:gd name="adj" fmla="val 10908"/>
            </a:avLst>
          </a:prstGeom>
          <a:solidFill>
            <a:srgbClr val="FFD43B"/>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20</a:t>
            </a:r>
            <a:endParaRPr lang="en-US" sz="1700" dirty="0"/>
          </a:p>
        </p:txBody>
      </p:sp>
      <p:sp>
        <p:nvSpPr>
          <p:cNvPr id="18" name="Text 16"/>
          <p:cNvSpPr/>
          <p:nvPr/>
        </p:nvSpPr>
        <p:spPr>
          <a:xfrm>
            <a:off x="4681736" y="2712839"/>
            <a:ext cx="585192" cy="494837"/>
          </a:xfrm>
          <a:prstGeom prst="roundRect">
            <a:avLst>
              <a:gd name="adj" fmla="val 10908"/>
            </a:avLst>
          </a:prstGeom>
          <a:solidFill>
            <a:srgbClr val="FFD43B"/>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10</a:t>
            </a:r>
            <a:endParaRPr lang="en-US" sz="1700" dirty="0"/>
          </a:p>
        </p:txBody>
      </p:sp>
      <p:sp>
        <p:nvSpPr>
          <p:cNvPr id="19" name="Text 17"/>
          <p:cNvSpPr/>
          <p:nvPr/>
        </p:nvSpPr>
        <p:spPr>
          <a:xfrm>
            <a:off x="812800" y="340770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776AB"/>
                </a:solidFill>
                <a:latin typeface="Courier New" pitchFamily="49" charset="0"/>
                <a:ea typeface="Courier New" pitchFamily="49" charset="-122"/>
                <a:cs typeface="Courier New" pitchFamily="49" charset="-120"/>
              </a:rPr>
              <a:t>b = a.copy() </a:t>
            </a:r>
            <a:r>
              <a:rPr lang="en-US" sz="1500" b="1" dirty="0">
                <a:solidFill>
                  <a:srgbClr val="475569"/>
                </a:solidFill>
                <a:latin typeface="Courier New" pitchFamily="49" charset="0"/>
                <a:ea typeface="Courier New" pitchFamily="49" charset="-122"/>
                <a:cs typeface="Courier New" pitchFamily="49" charset="-120"/>
              </a:rPr>
              <a:t>two separate lists</a:t>
            </a:r>
            <a:endParaRPr lang="en-US" sz="1500" dirty="0"/>
          </a:p>
        </p:txBody>
      </p:sp>
      <p:sp>
        <p:nvSpPr>
          <p:cNvPr id="20" name="Text 18"/>
          <p:cNvSpPr/>
          <p:nvPr/>
        </p:nvSpPr>
        <p:spPr>
          <a:xfrm>
            <a:off x="812800" y="3857693"/>
            <a:ext cx="149688"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776AB"/>
                </a:solidFill>
                <a:latin typeface="Arial" pitchFamily="34" charset="0"/>
                <a:ea typeface="Arial" pitchFamily="34" charset="-122"/>
                <a:cs typeface="Arial" pitchFamily="34" charset="-120"/>
              </a:rPr>
              <a:t>a</a:t>
            </a:r>
            <a:endParaRPr lang="en-US" sz="1400" dirty="0"/>
          </a:p>
        </p:txBody>
      </p:sp>
      <p:sp>
        <p:nvSpPr>
          <p:cNvPr id="21" name="Text 19"/>
          <p:cNvSpPr/>
          <p:nvPr/>
        </p:nvSpPr>
        <p:spPr>
          <a:xfrm>
            <a:off x="984713" y="3734730"/>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10</a:t>
            </a:r>
            <a:endParaRPr lang="en-US" sz="1700" dirty="0"/>
          </a:p>
        </p:txBody>
      </p:sp>
      <p:sp>
        <p:nvSpPr>
          <p:cNvPr id="22" name="Text 20"/>
          <p:cNvSpPr/>
          <p:nvPr/>
        </p:nvSpPr>
        <p:spPr>
          <a:xfrm>
            <a:off x="1652455" y="3734730"/>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20</a:t>
            </a:r>
            <a:endParaRPr lang="en-US" sz="1700" dirty="0"/>
          </a:p>
        </p:txBody>
      </p:sp>
      <p:sp>
        <p:nvSpPr>
          <p:cNvPr id="23" name="Text 21"/>
          <p:cNvSpPr/>
          <p:nvPr/>
        </p:nvSpPr>
        <p:spPr>
          <a:xfrm>
            <a:off x="2320198" y="3734730"/>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30</a:t>
            </a:r>
            <a:endParaRPr lang="en-US" sz="1700" dirty="0"/>
          </a:p>
        </p:txBody>
      </p:sp>
      <p:sp>
        <p:nvSpPr>
          <p:cNvPr id="24" name="Text 22"/>
          <p:cNvSpPr/>
          <p:nvPr/>
        </p:nvSpPr>
        <p:spPr>
          <a:xfrm>
            <a:off x="3067315" y="3786584"/>
            <a:ext cx="3352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3776AB"/>
                </a:solidFill>
                <a:latin typeface="Arial" pitchFamily="34" charset="0"/>
                <a:ea typeface="Arial" pitchFamily="34" charset="-122"/>
                <a:cs typeface="Arial" pitchFamily="34" charset="-120"/>
              </a:rPr>
              <a:t>→</a:t>
            </a:r>
            <a:endParaRPr lang="en-US" sz="2200" dirty="0"/>
          </a:p>
        </p:txBody>
      </p:sp>
      <p:sp>
        <p:nvSpPr>
          <p:cNvPr id="25" name="Text 23"/>
          <p:cNvSpPr/>
          <p:nvPr/>
        </p:nvSpPr>
        <p:spPr>
          <a:xfrm>
            <a:off x="3499115" y="3857693"/>
            <a:ext cx="149688"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776AB"/>
                </a:solidFill>
                <a:latin typeface="Arial" pitchFamily="34" charset="0"/>
                <a:ea typeface="Arial" pitchFamily="34" charset="-122"/>
                <a:cs typeface="Arial" pitchFamily="34" charset="-120"/>
              </a:rPr>
              <a:t>a</a:t>
            </a:r>
            <a:endParaRPr lang="en-US" sz="1400" dirty="0"/>
          </a:p>
        </p:txBody>
      </p:sp>
      <p:sp>
        <p:nvSpPr>
          <p:cNvPr id="26" name="Text 24"/>
          <p:cNvSpPr/>
          <p:nvPr/>
        </p:nvSpPr>
        <p:spPr>
          <a:xfrm>
            <a:off x="3671028" y="3734730"/>
            <a:ext cx="585192" cy="494837"/>
          </a:xfrm>
          <a:prstGeom prst="roundRect">
            <a:avLst>
              <a:gd name="adj" fmla="val 10908"/>
            </a:avLst>
          </a:prstGeom>
          <a:solidFill>
            <a:srgbClr val="DBEAFE"/>
          </a:solidFill>
          <a:ln w="19050">
            <a:solidFill>
              <a:srgbClr val="3776AB"/>
            </a:solidFill>
            <a:prstDash val="solid"/>
          </a:ln>
        </p:spPr>
        <p:txBody>
          <a:bodyPr wrap="none" lIns="0" tIns="0" rIns="1"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10</a:t>
            </a:r>
            <a:endParaRPr lang="en-US" sz="1700" dirty="0"/>
          </a:p>
        </p:txBody>
      </p:sp>
      <p:sp>
        <p:nvSpPr>
          <p:cNvPr id="27" name="Text 25"/>
          <p:cNvSpPr/>
          <p:nvPr/>
        </p:nvSpPr>
        <p:spPr>
          <a:xfrm>
            <a:off x="4338770" y="3734730"/>
            <a:ext cx="585192" cy="494837"/>
          </a:xfrm>
          <a:prstGeom prst="roundRect">
            <a:avLst>
              <a:gd name="adj" fmla="val 10908"/>
            </a:avLst>
          </a:prstGeom>
          <a:solidFill>
            <a:srgbClr val="DBEAFE"/>
          </a:solidFill>
          <a:ln w="19050">
            <a:solidFill>
              <a:srgbClr val="3776AB"/>
            </a:solidFill>
            <a:prstDash val="solid"/>
          </a:ln>
        </p:spPr>
        <p:txBody>
          <a:bodyPr wrap="none" lIns="0" tIns="0" rIns="1"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20</a:t>
            </a:r>
            <a:endParaRPr lang="en-US" sz="1700" dirty="0"/>
          </a:p>
        </p:txBody>
      </p:sp>
      <p:sp>
        <p:nvSpPr>
          <p:cNvPr id="28" name="Text 26"/>
          <p:cNvSpPr/>
          <p:nvPr/>
        </p:nvSpPr>
        <p:spPr>
          <a:xfrm>
            <a:off x="5006512" y="3734730"/>
            <a:ext cx="585192" cy="494837"/>
          </a:xfrm>
          <a:prstGeom prst="roundRect">
            <a:avLst>
              <a:gd name="adj" fmla="val 10908"/>
            </a:avLst>
          </a:prstGeom>
          <a:solidFill>
            <a:srgbClr val="DBEAFE"/>
          </a:solidFill>
          <a:ln w="19050">
            <a:solidFill>
              <a:srgbClr val="3776AB"/>
            </a:solidFill>
            <a:prstDash val="solid"/>
          </a:ln>
        </p:spPr>
        <p:txBody>
          <a:bodyPr wrap="none" lIns="0" tIns="0" rIns="1"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30</a:t>
            </a:r>
            <a:endParaRPr lang="en-US" sz="1700" dirty="0"/>
          </a:p>
        </p:txBody>
      </p:sp>
      <p:sp>
        <p:nvSpPr>
          <p:cNvPr id="29" name="Text 27"/>
          <p:cNvSpPr/>
          <p:nvPr/>
        </p:nvSpPr>
        <p:spPr>
          <a:xfrm>
            <a:off x="5664729" y="3857693"/>
            <a:ext cx="159411"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776AB"/>
                </a:solidFill>
                <a:latin typeface="Arial" pitchFamily="34" charset="0"/>
                <a:ea typeface="Arial" pitchFamily="34" charset="-122"/>
                <a:cs typeface="Arial" pitchFamily="34" charset="-120"/>
              </a:rPr>
              <a:t>b</a:t>
            </a:r>
            <a:endParaRPr lang="en-US" sz="1400" dirty="0"/>
          </a:p>
        </p:txBody>
      </p:sp>
      <p:sp>
        <p:nvSpPr>
          <p:cNvPr id="30" name="Text 28"/>
          <p:cNvSpPr/>
          <p:nvPr/>
        </p:nvSpPr>
        <p:spPr>
          <a:xfrm>
            <a:off x="5846366" y="3734730"/>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10</a:t>
            </a:r>
            <a:endParaRPr lang="en-US" sz="1700" dirty="0"/>
          </a:p>
        </p:txBody>
      </p:sp>
      <p:sp>
        <p:nvSpPr>
          <p:cNvPr id="31" name="Text 29"/>
          <p:cNvSpPr/>
          <p:nvPr/>
        </p:nvSpPr>
        <p:spPr>
          <a:xfrm>
            <a:off x="6514108" y="3734730"/>
            <a:ext cx="585192" cy="494837"/>
          </a:xfrm>
          <a:prstGeom prst="roundRect">
            <a:avLst>
              <a:gd name="adj" fmla="val 10908"/>
            </a:avLst>
          </a:prstGeom>
          <a:solidFill>
            <a:srgbClr val="DBEAFE"/>
          </a:solidFill>
          <a:ln w="19050">
            <a:solidFill>
              <a:srgbClr val="3776AB"/>
            </a:solidFill>
            <a:prstDash val="solid"/>
          </a:ln>
        </p:spPr>
        <p:txBody>
          <a:bodyPr wrap="none" lIns="1"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20</a:t>
            </a:r>
            <a:endParaRPr lang="en-US" sz="1700" dirty="0"/>
          </a:p>
        </p:txBody>
      </p:sp>
      <p:sp>
        <p:nvSpPr>
          <p:cNvPr id="32" name="Text 30"/>
          <p:cNvSpPr/>
          <p:nvPr/>
        </p:nvSpPr>
        <p:spPr>
          <a:xfrm>
            <a:off x="7181850" y="3734730"/>
            <a:ext cx="585192" cy="494837"/>
          </a:xfrm>
          <a:prstGeom prst="roundRect">
            <a:avLst>
              <a:gd name="adj" fmla="val 10908"/>
            </a:avLst>
          </a:prstGeom>
          <a:solidFill>
            <a:srgbClr val="DBEAFE"/>
          </a:solidFill>
          <a:ln w="19050">
            <a:solidFill>
              <a:srgbClr val="3776AB"/>
            </a:solidFill>
            <a:prstDash val="solid"/>
          </a:ln>
        </p:spPr>
        <p:txBody>
          <a:bodyPr wrap="none" lIns="1"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30</a:t>
            </a:r>
            <a:endParaRPr lang="en-US" sz="1700" dirty="0"/>
          </a:p>
        </p:txBody>
      </p:sp>
      <p:sp>
        <p:nvSpPr>
          <p:cNvPr id="33" name="Text 31"/>
          <p:cNvSpPr/>
          <p:nvPr/>
        </p:nvSpPr>
        <p:spPr>
          <a:xfrm>
            <a:off x="812800" y="4429590"/>
            <a:ext cx="10883392"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75569"/>
                </a:solidFill>
                <a:latin typeface="Arial" pitchFamily="34" charset="0"/>
                <a:ea typeface="Arial" pitchFamily="34" charset="-122"/>
                <a:cs typeface="Arial" pitchFamily="34" charset="-120"/>
              </a:rPr>
              <a:t>Note: </a:t>
            </a:r>
            <a:r>
              <a:rPr lang="en-US" sz="1400" b="1" dirty="0">
                <a:solidFill>
                  <a:srgbClr val="475569"/>
                </a:solidFill>
                <a:latin typeface="Arial" pitchFamily="34" charset="0"/>
                <a:ea typeface="Arial" pitchFamily="34" charset="-122"/>
                <a:cs typeface="Arial" pitchFamily="34" charset="-120"/>
              </a:rPr>
              <a:t>deepcopy</a:t>
            </a:r>
            <a:r>
              <a:rPr lang="en-US" sz="1400" dirty="0">
                <a:solidFill>
                  <a:srgbClr val="475569"/>
                </a:solidFill>
                <a:latin typeface="Arial" pitchFamily="34" charset="0"/>
                <a:ea typeface="Arial" pitchFamily="34" charset="-122"/>
                <a:cs typeface="Arial" pitchFamily="34" charset="-120"/>
              </a:rPr>
              <a:t> is not a list method. Use </a:t>
            </a:r>
            <a:r>
              <a:rPr lang="en-US" sz="1400" b="1" dirty="0">
                <a:solidFill>
                  <a:srgbClr val="475569"/>
                </a:solidFill>
                <a:latin typeface="Arial" pitchFamily="34" charset="0"/>
                <a:ea typeface="Arial" pitchFamily="34" charset="-122"/>
                <a:cs typeface="Arial" pitchFamily="34" charset="-120"/>
              </a:rPr>
              <a:t>import copy; copy.deepcopy(a)</a:t>
            </a:r>
            <a:r>
              <a:rPr lang="en-US" sz="1400" dirty="0">
                <a:solidFill>
                  <a:srgbClr val="475569"/>
                </a:solidFill>
                <a:latin typeface="Arial" pitchFamily="34" charset="0"/>
                <a:ea typeface="Arial" pitchFamily="34" charset="-122"/>
                <a:cs typeface="Arial" pitchFamily="34" charset="-120"/>
              </a:rPr>
              <a: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ph type="title"/>
          </p:nvPr>
        </p:nvSpPr>
        <p:spPr>
          <a:xfrm>
            <a:off x="812800" y="698500"/>
            <a:ext cx="10883392" cy="500327"/>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0F172A"/>
                </a:solidFill>
                <a:latin typeface="Arial" pitchFamily="34" charset="0"/>
                <a:ea typeface="Arial" pitchFamily="34" charset="-122"/>
                <a:cs typeface="Arial" pitchFamily="34" charset="-120"/>
              </a:rPr>
              <a:t>How a List is Stored</a:t>
            </a:r>
            <a:endParaRPr lang="en-US" sz="3400" dirty="0"/>
          </a:p>
        </p:txBody>
      </p:sp>
      <p:sp>
        <p:nvSpPr>
          <p:cNvPr id="3" name="Text 1"/>
          <p:cNvSpPr/>
          <p:nvPr/>
        </p:nvSpPr>
        <p:spPr>
          <a:xfrm>
            <a:off x="812800" y="1363929"/>
            <a:ext cx="10883392" cy="316839"/>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0F172A"/>
                </a:solidFill>
                <a:latin typeface="Arial" pitchFamily="34" charset="0"/>
                <a:ea typeface="Arial" pitchFamily="34" charset="-122"/>
                <a:cs typeface="Arial" pitchFamily="34" charset="-120"/>
              </a:rPr>
              <a:t>A list stores </a:t>
            </a:r>
            <a:r>
              <a:rPr lang="en-US" sz="1700" b="1" dirty="0">
                <a:solidFill>
                  <a:srgbClr val="0F172A"/>
                </a:solidFill>
                <a:latin typeface="Arial" pitchFamily="34" charset="0"/>
                <a:ea typeface="Arial" pitchFamily="34" charset="-122"/>
                <a:cs typeface="Arial" pitchFamily="34" charset="-120"/>
              </a:rPr>
              <a:t>references</a:t>
            </a:r>
            <a:r>
              <a:rPr lang="en-US" sz="1700" dirty="0">
                <a:solidFill>
                  <a:srgbClr val="0F172A"/>
                </a:solidFill>
                <a:latin typeface="Arial" pitchFamily="34" charset="0"/>
                <a:ea typeface="Arial" pitchFamily="34" charset="-122"/>
                <a:cs typeface="Arial" pitchFamily="34" charset="-120"/>
              </a:rPr>
              <a:t> (addresses), not the data itself.</a:t>
            </a:r>
            <a:endParaRPr lang="en-US" sz="1700" dirty="0"/>
          </a:p>
        </p:txBody>
      </p:sp>
      <p:sp>
        <p:nvSpPr>
          <p:cNvPr id="4" name="Shape 2"/>
          <p:cNvSpPr/>
          <p:nvPr/>
        </p:nvSpPr>
        <p:spPr>
          <a:xfrm>
            <a:off x="819150" y="1852216"/>
            <a:ext cx="5181600" cy="2457715"/>
          </a:xfrm>
          <a:prstGeom prst="roundRect">
            <a:avLst>
              <a:gd name="adj" fmla="val 3876"/>
            </a:avLst>
          </a:prstGeom>
          <a:solidFill>
            <a:srgbClr val="FFFFFF"/>
          </a:solidFill>
          <a:ln w="12700">
            <a:solidFill>
              <a:srgbClr val="E2E8F0"/>
            </a:solidFill>
            <a:prstDash val="solid"/>
          </a:ln>
        </p:spPr>
      </p:sp>
      <p:sp>
        <p:nvSpPr>
          <p:cNvPr id="5" name="Text 3"/>
          <p:cNvSpPr/>
          <p:nvPr/>
        </p:nvSpPr>
        <p:spPr>
          <a:xfrm>
            <a:off x="1028700" y="2061766"/>
            <a:ext cx="4905375"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776AB"/>
                </a:solidFill>
                <a:latin typeface="Courier New" pitchFamily="49" charset="0"/>
                <a:ea typeface="Courier New" pitchFamily="49" charset="-122"/>
                <a:cs typeface="Courier New" pitchFamily="49" charset="-120"/>
              </a:rPr>
              <a:t>x = [10, "Hello", True]</a:t>
            </a:r>
            <a:endParaRPr lang="en-US" sz="1400" dirty="0"/>
          </a:p>
        </p:txBody>
      </p:sp>
      <p:sp>
        <p:nvSpPr>
          <p:cNvPr id="6" name="Text 4"/>
          <p:cNvSpPr/>
          <p:nvPr/>
        </p:nvSpPr>
        <p:spPr>
          <a:xfrm>
            <a:off x="1038225" y="2409099"/>
            <a:ext cx="825368"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2000</a:t>
            </a:r>
            <a:endParaRPr lang="en-US" sz="1700" dirty="0"/>
          </a:p>
        </p:txBody>
      </p:sp>
      <p:sp>
        <p:nvSpPr>
          <p:cNvPr id="7" name="Text 5"/>
          <p:cNvSpPr/>
          <p:nvPr/>
        </p:nvSpPr>
        <p:spPr>
          <a:xfrm>
            <a:off x="1371534" y="2938859"/>
            <a:ext cx="158750" cy="327620"/>
          </a:xfrm>
          <a:prstGeom prst="rect">
            <a:avLst/>
          </a:prstGeom>
          <a:noFill/>
          <a:ln/>
        </p:spPr>
        <p:txBody>
          <a:bodyPr wrap="square" lIns="0" tIns="0" rIns="0" bIns="0" rtlCol="0" anchor="t">
            <a:normAutofit/>
          </a:bodyPr>
          <a:lstStyle/>
          <a:p>
            <a:pPr algn="ctr" indent="0" marL="0">
              <a:lnSpc>
                <a:spcPts val="2380"/>
              </a:lnSpc>
              <a:buNone/>
            </a:pPr>
            <a:r>
              <a:rPr lang="en-US" sz="1700" dirty="0">
                <a:solidFill>
                  <a:srgbClr val="3776AB"/>
                </a:solidFill>
                <a:latin typeface="Arial" pitchFamily="34" charset="0"/>
                <a:ea typeface="Arial" pitchFamily="34" charset="-122"/>
                <a:cs typeface="Arial" pitchFamily="34" charset="-120"/>
              </a:rPr>
              <a:t>↓</a:t>
            </a:r>
            <a:endParaRPr lang="en-US" sz="1700" dirty="0"/>
          </a:p>
        </p:txBody>
      </p:sp>
      <p:sp>
        <p:nvSpPr>
          <p:cNvPr id="8" name="Text 6"/>
          <p:cNvSpPr/>
          <p:nvPr/>
        </p:nvSpPr>
        <p:spPr>
          <a:xfrm>
            <a:off x="1158280" y="3276005"/>
            <a:ext cx="585192" cy="494837"/>
          </a:xfrm>
          <a:prstGeom prst="roundRect">
            <a:avLst>
              <a:gd name="adj" fmla="val 10908"/>
            </a:avLst>
          </a:prstGeom>
          <a:solidFill>
            <a:srgbClr val="FFD43B"/>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10</a:t>
            </a:r>
            <a:endParaRPr lang="en-US" sz="1700" dirty="0"/>
          </a:p>
        </p:txBody>
      </p:sp>
      <p:sp>
        <p:nvSpPr>
          <p:cNvPr id="9" name="Text 7"/>
          <p:cNvSpPr/>
          <p:nvPr/>
        </p:nvSpPr>
        <p:spPr>
          <a:xfrm>
            <a:off x="2058789" y="2409099"/>
            <a:ext cx="825368"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3000</a:t>
            </a:r>
            <a:endParaRPr lang="en-US" sz="1700" dirty="0"/>
          </a:p>
        </p:txBody>
      </p:sp>
      <p:sp>
        <p:nvSpPr>
          <p:cNvPr id="10" name="Text 8"/>
          <p:cNvSpPr/>
          <p:nvPr/>
        </p:nvSpPr>
        <p:spPr>
          <a:xfrm>
            <a:off x="2392098" y="2938859"/>
            <a:ext cx="158750" cy="327620"/>
          </a:xfrm>
          <a:prstGeom prst="rect">
            <a:avLst/>
          </a:prstGeom>
          <a:noFill/>
          <a:ln/>
        </p:spPr>
        <p:txBody>
          <a:bodyPr wrap="square" lIns="0" tIns="0" rIns="0" bIns="0" rtlCol="0" anchor="t">
            <a:normAutofit/>
          </a:bodyPr>
          <a:lstStyle/>
          <a:p>
            <a:pPr algn="ctr" indent="0" marL="0">
              <a:lnSpc>
                <a:spcPts val="2380"/>
              </a:lnSpc>
              <a:buNone/>
            </a:pPr>
            <a:r>
              <a:rPr lang="en-US" sz="1700" dirty="0">
                <a:solidFill>
                  <a:srgbClr val="3776AB"/>
                </a:solidFill>
                <a:latin typeface="Arial" pitchFamily="34" charset="0"/>
                <a:ea typeface="Arial" pitchFamily="34" charset="-122"/>
                <a:cs typeface="Arial" pitchFamily="34" charset="-120"/>
              </a:rPr>
              <a:t>↓</a:t>
            </a:r>
            <a:endParaRPr lang="en-US" sz="1700" dirty="0"/>
          </a:p>
        </p:txBody>
      </p:sp>
      <p:sp>
        <p:nvSpPr>
          <p:cNvPr id="11" name="Text 9"/>
          <p:cNvSpPr/>
          <p:nvPr/>
        </p:nvSpPr>
        <p:spPr>
          <a:xfrm>
            <a:off x="2035043" y="3276005"/>
            <a:ext cx="872860" cy="494837"/>
          </a:xfrm>
          <a:prstGeom prst="roundRect">
            <a:avLst>
              <a:gd name="adj" fmla="val 10908"/>
            </a:avLst>
          </a:prstGeom>
          <a:solidFill>
            <a:srgbClr val="FFD43B"/>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Hello</a:t>
            </a:r>
            <a:endParaRPr lang="en-US" sz="1700" dirty="0"/>
          </a:p>
        </p:txBody>
      </p:sp>
      <p:sp>
        <p:nvSpPr>
          <p:cNvPr id="12" name="Text 10"/>
          <p:cNvSpPr/>
          <p:nvPr/>
        </p:nvSpPr>
        <p:spPr>
          <a:xfrm>
            <a:off x="3079353" y="2409099"/>
            <a:ext cx="825368"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4000</a:t>
            </a:r>
            <a:endParaRPr lang="en-US" sz="1700" dirty="0"/>
          </a:p>
        </p:txBody>
      </p:sp>
      <p:sp>
        <p:nvSpPr>
          <p:cNvPr id="13" name="Text 11"/>
          <p:cNvSpPr/>
          <p:nvPr/>
        </p:nvSpPr>
        <p:spPr>
          <a:xfrm>
            <a:off x="3412662" y="2938859"/>
            <a:ext cx="158750" cy="327620"/>
          </a:xfrm>
          <a:prstGeom prst="rect">
            <a:avLst/>
          </a:prstGeom>
          <a:noFill/>
          <a:ln/>
        </p:spPr>
        <p:txBody>
          <a:bodyPr wrap="square" lIns="0" tIns="0" rIns="0" bIns="0" rtlCol="0" anchor="t">
            <a:normAutofit/>
          </a:bodyPr>
          <a:lstStyle/>
          <a:p>
            <a:pPr algn="ctr" indent="0" marL="0">
              <a:lnSpc>
                <a:spcPts val="2380"/>
              </a:lnSpc>
              <a:buNone/>
            </a:pPr>
            <a:r>
              <a:rPr lang="en-US" sz="1700" dirty="0">
                <a:solidFill>
                  <a:srgbClr val="3776AB"/>
                </a:solidFill>
                <a:latin typeface="Arial" pitchFamily="34" charset="0"/>
                <a:ea typeface="Arial" pitchFamily="34" charset="-122"/>
                <a:cs typeface="Arial" pitchFamily="34" charset="-120"/>
              </a:rPr>
              <a:t>↓</a:t>
            </a:r>
            <a:endParaRPr lang="en-US" sz="1700" dirty="0"/>
          </a:p>
        </p:txBody>
      </p:sp>
      <p:sp>
        <p:nvSpPr>
          <p:cNvPr id="14" name="Text 12"/>
          <p:cNvSpPr/>
          <p:nvPr/>
        </p:nvSpPr>
        <p:spPr>
          <a:xfrm>
            <a:off x="3091524" y="3276005"/>
            <a:ext cx="800960" cy="494837"/>
          </a:xfrm>
          <a:prstGeom prst="roundRect">
            <a:avLst>
              <a:gd name="adj" fmla="val 10908"/>
            </a:avLst>
          </a:prstGeom>
          <a:solidFill>
            <a:srgbClr val="FFD43B"/>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True</a:t>
            </a:r>
            <a:endParaRPr lang="en-US" sz="1700" dirty="0"/>
          </a:p>
        </p:txBody>
      </p:sp>
      <p:sp>
        <p:nvSpPr>
          <p:cNvPr id="15" name="Text 13"/>
          <p:cNvSpPr/>
          <p:nvPr/>
        </p:nvSpPr>
        <p:spPr>
          <a:xfrm>
            <a:off x="1028700" y="3869271"/>
            <a:ext cx="4905375"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Arial" pitchFamily="34" charset="0"/>
                <a:ea typeface="Arial" pitchFamily="34" charset="-122"/>
                <a:cs typeface="Arial" pitchFamily="34" charset="-120"/>
              </a:rPr>
              <a:t>Blue = list (addresses), yellow = objects</a:t>
            </a:r>
            <a:endParaRPr lang="en-US" sz="1300" dirty="0"/>
          </a:p>
        </p:txBody>
      </p:sp>
      <p:sp>
        <p:nvSpPr>
          <p:cNvPr id="16" name="Shape 14"/>
          <p:cNvSpPr/>
          <p:nvPr/>
        </p:nvSpPr>
        <p:spPr>
          <a:xfrm>
            <a:off x="6210300" y="1845866"/>
            <a:ext cx="5168900" cy="2470415"/>
          </a:xfrm>
          <a:prstGeom prst="roundRect">
            <a:avLst>
              <a:gd name="adj" fmla="val 4113"/>
            </a:avLst>
          </a:prstGeom>
          <a:solidFill>
            <a:srgbClr val="0F172A"/>
          </a:solidFill>
          <a:ln/>
        </p:spPr>
      </p:sp>
      <p:sp>
        <p:nvSpPr>
          <p:cNvPr id="17" name="Text 15"/>
          <p:cNvSpPr/>
          <p:nvPr/>
        </p:nvSpPr>
        <p:spPr>
          <a:xfrm>
            <a:off x="6413500" y="2049066"/>
            <a:ext cx="4905375"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Over-allocation</a:t>
            </a:r>
            <a:endParaRPr lang="en-US" sz="1300" dirty="0"/>
          </a:p>
        </p:txBody>
      </p:sp>
      <p:sp>
        <p:nvSpPr>
          <p:cNvPr id="18" name="Text 16"/>
          <p:cNvSpPr/>
          <p:nvPr/>
        </p:nvSpPr>
        <p:spPr>
          <a:xfrm>
            <a:off x="6413500" y="2369083"/>
            <a:ext cx="4905375" cy="10922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DE68A"/>
                </a:solidFill>
                <a:latin typeface="Courier New" pitchFamily="49" charset="0"/>
                <a:ea typeface="Courier New" pitchFamily="49" charset="-122"/>
                <a:cs typeface="Courier New" pitchFamily="49" charset="-120"/>
              </a:rPr>
              <a:t>x = [1, 2, 3, 4]</a:t>
            </a:r>
            <a:endParaRPr lang="en-US" sz="1400" dirty="0"/>
          </a:p>
          <a:p>
            <a:pPr algn="l" indent="0" marL="0">
              <a:lnSpc>
                <a:spcPts val="2100"/>
              </a:lnSpc>
              <a:buNone/>
            </a:pPr>
            <a:r>
              <a:rPr lang="en-US" sz="1400" dirty="0">
                <a:solidFill>
                  <a:srgbClr val="FDE68A"/>
                </a:solidFill>
                <a:latin typeface="Courier New" pitchFamily="49" charset="0"/>
                <a:ea typeface="Courier New" pitchFamily="49" charset="-122"/>
                <a:cs typeface="Courier New" pitchFamily="49" charset="-120"/>
              </a:rPr>
              <a:t>sys.getsizeof(x) # 88</a:t>
            </a:r>
            <a:endParaRPr lang="en-US" sz="1400" dirty="0"/>
          </a:p>
          <a:p>
            <a:pPr algn="l" indent="0" marL="0">
              <a:lnSpc>
                <a:spcPts val="2100"/>
              </a:lnSpc>
              <a:buNone/>
            </a:pPr>
            <a:r>
              <a:rPr lang="en-US" sz="1400" dirty="0">
                <a:solidFill>
                  <a:srgbClr val="FDE68A"/>
                </a:solidFill>
                <a:latin typeface="Courier New" pitchFamily="49" charset="0"/>
                <a:ea typeface="Courier New" pitchFamily="49" charset="-122"/>
                <a:cs typeface="Courier New" pitchFamily="49" charset="-120"/>
              </a:rPr>
              <a:t>x.append(5)</a:t>
            </a:r>
            <a:endParaRPr lang="en-US" sz="1400" dirty="0"/>
          </a:p>
          <a:p>
            <a:pPr algn="l" indent="0" marL="0">
              <a:lnSpc>
                <a:spcPts val="2100"/>
              </a:lnSpc>
              <a:buNone/>
            </a:pPr>
            <a:r>
              <a:rPr lang="en-US" sz="1400" dirty="0">
                <a:solidFill>
                  <a:srgbClr val="FDE68A"/>
                </a:solidFill>
                <a:latin typeface="Courier New" pitchFamily="49" charset="0"/>
                <a:ea typeface="Courier New" pitchFamily="49" charset="-122"/>
                <a:cs typeface="Courier New" pitchFamily="49" charset="-120"/>
              </a:rPr>
              <a:t>sys.getsizeof(x) # 120</a:t>
            </a:r>
            <a:endParaRPr lang="en-US" sz="1400" dirty="0"/>
          </a:p>
        </p:txBody>
      </p:sp>
      <p:sp>
        <p:nvSpPr>
          <p:cNvPr id="19" name="Text 17"/>
          <p:cNvSpPr/>
          <p:nvPr/>
        </p:nvSpPr>
        <p:spPr>
          <a:xfrm>
            <a:off x="812800" y="4506782"/>
            <a:ext cx="10883392" cy="299707"/>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75569"/>
                </a:solidFill>
                <a:latin typeface="Arial" pitchFamily="34" charset="0"/>
                <a:ea typeface="Arial" pitchFamily="34" charset="-122"/>
                <a:cs typeface="Arial" pitchFamily="34" charset="-120"/>
              </a:rPr>
              <a:t>Python keeps </a:t>
            </a:r>
            <a:r>
              <a:rPr lang="en-US" sz="1600" b="1" dirty="0">
                <a:solidFill>
                  <a:srgbClr val="475569"/>
                </a:solidFill>
                <a:latin typeface="Arial" pitchFamily="34" charset="0"/>
                <a:ea typeface="Arial" pitchFamily="34" charset="-122"/>
                <a:cs typeface="Arial" pitchFamily="34" charset="-120"/>
              </a:rPr>
              <a:t>extra space</a:t>
            </a:r>
            <a:r>
              <a:rPr lang="en-US" sz="1600" dirty="0">
                <a:solidFill>
                  <a:srgbClr val="475569"/>
                </a:solidFill>
                <a:latin typeface="Arial" pitchFamily="34" charset="0"/>
                <a:ea typeface="Arial" pitchFamily="34" charset="-122"/>
                <a:cs typeface="Arial" pitchFamily="34" charset="-120"/>
              </a:rPr>
              <a:t> ready, so append() stays fast.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ph type="title"/>
          </p:nvPr>
        </p:nvSpPr>
        <p:spPr>
          <a:xfrm>
            <a:off x="812800" y="698500"/>
            <a:ext cx="10883392" cy="500327"/>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0F172A"/>
                </a:solidFill>
                <a:latin typeface="Arial" pitchFamily="34" charset="0"/>
                <a:ea typeface="Arial" pitchFamily="34" charset="-122"/>
                <a:cs typeface="Arial" pitchFamily="34" charset="-120"/>
              </a:rPr>
              <a:t>Indexing &amp; Slicing</a:t>
            </a:r>
            <a:endParaRPr lang="en-US" sz="3400" dirty="0"/>
          </a:p>
        </p:txBody>
      </p:sp>
      <p:sp>
        <p:nvSpPr>
          <p:cNvPr id="3" name="Text 1"/>
          <p:cNvSpPr/>
          <p:nvPr/>
        </p:nvSpPr>
        <p:spPr>
          <a:xfrm>
            <a:off x="812800" y="1363929"/>
            <a:ext cx="10883392" cy="333970"/>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0F172A"/>
                </a:solidFill>
                <a:latin typeface="Arial" pitchFamily="34" charset="0"/>
                <a:ea typeface="Arial" pitchFamily="34" charset="-122"/>
                <a:cs typeface="Arial" pitchFamily="34" charset="-120"/>
              </a:rPr>
              <a:t>arr = [10, 20, 30, 40, 50]</a:t>
            </a:r>
            <a:endParaRPr lang="en-US" sz="1800" dirty="0"/>
          </a:p>
        </p:txBody>
      </p:sp>
      <p:sp>
        <p:nvSpPr>
          <p:cNvPr id="4" name="Text 2"/>
          <p:cNvSpPr/>
          <p:nvPr/>
        </p:nvSpPr>
        <p:spPr>
          <a:xfrm>
            <a:off x="822325" y="1872524"/>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10</a:t>
            </a:r>
            <a:endParaRPr lang="en-US" sz="1700" dirty="0"/>
          </a:p>
        </p:txBody>
      </p:sp>
      <p:sp>
        <p:nvSpPr>
          <p:cNvPr id="5" name="Text 3"/>
          <p:cNvSpPr/>
          <p:nvPr/>
        </p:nvSpPr>
        <p:spPr>
          <a:xfrm>
            <a:off x="1047089" y="2414984"/>
            <a:ext cx="135599"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5569"/>
                </a:solidFill>
                <a:latin typeface="Arial" pitchFamily="34" charset="0"/>
                <a:ea typeface="Arial" pitchFamily="34" charset="-122"/>
                <a:cs typeface="Arial" pitchFamily="34" charset="-120"/>
              </a:rPr>
              <a:t>0</a:t>
            </a:r>
            <a:endParaRPr lang="en-US" sz="1200" dirty="0"/>
          </a:p>
        </p:txBody>
      </p:sp>
      <p:sp>
        <p:nvSpPr>
          <p:cNvPr id="6" name="Text 4"/>
          <p:cNvSpPr/>
          <p:nvPr/>
        </p:nvSpPr>
        <p:spPr>
          <a:xfrm>
            <a:off x="1490067" y="1872524"/>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20</a:t>
            </a:r>
            <a:endParaRPr lang="en-US" sz="1700" dirty="0"/>
          </a:p>
        </p:txBody>
      </p:sp>
      <p:sp>
        <p:nvSpPr>
          <p:cNvPr id="7" name="Text 5"/>
          <p:cNvSpPr/>
          <p:nvPr/>
        </p:nvSpPr>
        <p:spPr>
          <a:xfrm>
            <a:off x="1714831" y="2414984"/>
            <a:ext cx="135599"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5569"/>
                </a:solidFill>
                <a:latin typeface="Arial" pitchFamily="34" charset="0"/>
                <a:ea typeface="Arial" pitchFamily="34" charset="-122"/>
                <a:cs typeface="Arial" pitchFamily="34" charset="-120"/>
              </a:rPr>
              <a:t>1</a:t>
            </a:r>
            <a:endParaRPr lang="en-US" sz="1200" dirty="0"/>
          </a:p>
        </p:txBody>
      </p:sp>
      <p:sp>
        <p:nvSpPr>
          <p:cNvPr id="8" name="Text 6"/>
          <p:cNvSpPr/>
          <p:nvPr/>
        </p:nvSpPr>
        <p:spPr>
          <a:xfrm>
            <a:off x="2157809" y="1872524"/>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30</a:t>
            </a:r>
            <a:endParaRPr lang="en-US" sz="1700" dirty="0"/>
          </a:p>
        </p:txBody>
      </p:sp>
      <p:sp>
        <p:nvSpPr>
          <p:cNvPr id="9" name="Text 7"/>
          <p:cNvSpPr/>
          <p:nvPr/>
        </p:nvSpPr>
        <p:spPr>
          <a:xfrm>
            <a:off x="2382573" y="2414984"/>
            <a:ext cx="135599"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5569"/>
                </a:solidFill>
                <a:latin typeface="Arial" pitchFamily="34" charset="0"/>
                <a:ea typeface="Arial" pitchFamily="34" charset="-122"/>
                <a:cs typeface="Arial" pitchFamily="34" charset="-120"/>
              </a:rPr>
              <a:t>2</a:t>
            </a:r>
            <a:endParaRPr lang="en-US" sz="1200" dirty="0"/>
          </a:p>
        </p:txBody>
      </p:sp>
      <p:sp>
        <p:nvSpPr>
          <p:cNvPr id="10" name="Text 8"/>
          <p:cNvSpPr/>
          <p:nvPr/>
        </p:nvSpPr>
        <p:spPr>
          <a:xfrm>
            <a:off x="2825552" y="1872524"/>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40</a:t>
            </a:r>
            <a:endParaRPr lang="en-US" sz="1700" dirty="0"/>
          </a:p>
        </p:txBody>
      </p:sp>
      <p:sp>
        <p:nvSpPr>
          <p:cNvPr id="11" name="Text 9"/>
          <p:cNvSpPr/>
          <p:nvPr/>
        </p:nvSpPr>
        <p:spPr>
          <a:xfrm>
            <a:off x="3050315" y="2414984"/>
            <a:ext cx="135599"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5569"/>
                </a:solidFill>
                <a:latin typeface="Arial" pitchFamily="34" charset="0"/>
                <a:ea typeface="Arial" pitchFamily="34" charset="-122"/>
                <a:cs typeface="Arial" pitchFamily="34" charset="-120"/>
              </a:rPr>
              <a:t>3</a:t>
            </a:r>
            <a:endParaRPr lang="en-US" sz="1200" dirty="0"/>
          </a:p>
        </p:txBody>
      </p:sp>
      <p:sp>
        <p:nvSpPr>
          <p:cNvPr id="12" name="Text 10"/>
          <p:cNvSpPr/>
          <p:nvPr/>
        </p:nvSpPr>
        <p:spPr>
          <a:xfrm>
            <a:off x="3493294" y="1872524"/>
            <a:ext cx="585192" cy="494837"/>
          </a:xfrm>
          <a:prstGeom prst="roundRect">
            <a:avLst>
              <a:gd name="adj" fmla="val 10908"/>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50</a:t>
            </a:r>
            <a:endParaRPr lang="en-US" sz="1700" dirty="0"/>
          </a:p>
        </p:txBody>
      </p:sp>
      <p:sp>
        <p:nvSpPr>
          <p:cNvPr id="13" name="Text 11"/>
          <p:cNvSpPr/>
          <p:nvPr/>
        </p:nvSpPr>
        <p:spPr>
          <a:xfrm>
            <a:off x="3718058" y="2414984"/>
            <a:ext cx="135599"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75569"/>
                </a:solidFill>
                <a:latin typeface="Arial" pitchFamily="34" charset="0"/>
                <a:ea typeface="Arial" pitchFamily="34" charset="-122"/>
                <a:cs typeface="Arial" pitchFamily="34" charset="-120"/>
              </a:rPr>
              <a:t>4</a:t>
            </a:r>
            <a:endParaRPr lang="en-US" sz="1200" dirty="0"/>
          </a:p>
        </p:txBody>
      </p:sp>
      <p:sp>
        <p:nvSpPr>
          <p:cNvPr id="14" name="Shape 12"/>
          <p:cNvSpPr/>
          <p:nvPr/>
        </p:nvSpPr>
        <p:spPr>
          <a:xfrm>
            <a:off x="812800" y="2818805"/>
            <a:ext cx="5181600" cy="1640814"/>
          </a:xfrm>
          <a:prstGeom prst="roundRect">
            <a:avLst>
              <a:gd name="adj" fmla="val 6192"/>
            </a:avLst>
          </a:prstGeom>
          <a:solidFill>
            <a:srgbClr val="0F172A"/>
          </a:solidFill>
          <a:ln/>
        </p:spPr>
      </p:sp>
      <p:sp>
        <p:nvSpPr>
          <p:cNvPr id="15" name="Text 13"/>
          <p:cNvSpPr/>
          <p:nvPr/>
        </p:nvSpPr>
        <p:spPr>
          <a:xfrm>
            <a:off x="1016000" y="3022005"/>
            <a:ext cx="491845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Indexing</a:t>
            </a:r>
            <a:endParaRPr lang="en-US" sz="1300" dirty="0"/>
          </a:p>
        </p:txBody>
      </p:sp>
      <p:sp>
        <p:nvSpPr>
          <p:cNvPr id="16" name="Text 14"/>
          <p:cNvSpPr/>
          <p:nvPr/>
        </p:nvSpPr>
        <p:spPr>
          <a:xfrm>
            <a:off x="1016000" y="3342022"/>
            <a:ext cx="4918456" cy="9398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DE68A"/>
                </a:solidFill>
                <a:latin typeface="Courier New" pitchFamily="49" charset="0"/>
                <a:ea typeface="Courier New" pitchFamily="49" charset="-122"/>
                <a:cs typeface="Courier New" pitchFamily="49" charset="-120"/>
              </a:rPr>
              <a:t>arr[0] # 10</a:t>
            </a:r>
            <a:endParaRPr lang="en-US" sz="1600" dirty="0"/>
          </a:p>
          <a:p>
            <a:pPr algn="l" indent="0" marL="0">
              <a:lnSpc>
                <a:spcPts val="2400"/>
              </a:lnSpc>
              <a:buNone/>
            </a:pPr>
            <a:r>
              <a:rPr lang="en-US" sz="1600" dirty="0">
                <a:solidFill>
                  <a:srgbClr val="FDE68A"/>
                </a:solidFill>
                <a:latin typeface="Courier New" pitchFamily="49" charset="0"/>
                <a:ea typeface="Courier New" pitchFamily="49" charset="-122"/>
                <a:cs typeface="Courier New" pitchFamily="49" charset="-120"/>
              </a:rPr>
              <a:t>arr[2] # 30</a:t>
            </a:r>
            <a:endParaRPr lang="en-US" sz="1600" dirty="0"/>
          </a:p>
          <a:p>
            <a:pPr algn="l" indent="0" marL="0">
              <a:lnSpc>
                <a:spcPts val="2400"/>
              </a:lnSpc>
              <a:buNone/>
            </a:pPr>
            <a:r>
              <a:rPr lang="en-US" sz="1600" dirty="0">
                <a:solidFill>
                  <a:srgbClr val="FDE68A"/>
                </a:solidFill>
                <a:latin typeface="Courier New" pitchFamily="49" charset="0"/>
                <a:ea typeface="Courier New" pitchFamily="49" charset="-122"/>
                <a:cs typeface="Courier New" pitchFamily="49" charset="-120"/>
              </a:rPr>
              <a:t>arr[-1] # 50 (last)</a:t>
            </a:r>
            <a:endParaRPr lang="en-US" sz="1600" dirty="0"/>
          </a:p>
        </p:txBody>
      </p:sp>
      <p:sp>
        <p:nvSpPr>
          <p:cNvPr id="17" name="Shape 15"/>
          <p:cNvSpPr/>
          <p:nvPr/>
        </p:nvSpPr>
        <p:spPr>
          <a:xfrm>
            <a:off x="6197600" y="2818805"/>
            <a:ext cx="5181600" cy="1640814"/>
          </a:xfrm>
          <a:prstGeom prst="roundRect">
            <a:avLst>
              <a:gd name="adj" fmla="val 6192"/>
            </a:avLst>
          </a:prstGeom>
          <a:solidFill>
            <a:srgbClr val="0F172A"/>
          </a:solidFill>
          <a:ln/>
        </p:spPr>
      </p:sp>
      <p:sp>
        <p:nvSpPr>
          <p:cNvPr id="18" name="Text 16"/>
          <p:cNvSpPr/>
          <p:nvPr/>
        </p:nvSpPr>
        <p:spPr>
          <a:xfrm>
            <a:off x="6400800" y="3022005"/>
            <a:ext cx="491845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Slicing [start:end:step]</a:t>
            </a:r>
            <a:endParaRPr lang="en-US" sz="1300" dirty="0"/>
          </a:p>
        </p:txBody>
      </p:sp>
      <p:sp>
        <p:nvSpPr>
          <p:cNvPr id="19" name="Text 17"/>
          <p:cNvSpPr/>
          <p:nvPr/>
        </p:nvSpPr>
        <p:spPr>
          <a:xfrm>
            <a:off x="6400800" y="3342022"/>
            <a:ext cx="4918456" cy="9398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DE68A"/>
                </a:solidFill>
                <a:latin typeface="Courier New" pitchFamily="49" charset="0"/>
                <a:ea typeface="Courier New" pitchFamily="49" charset="-122"/>
                <a:cs typeface="Courier New" pitchFamily="49" charset="-120"/>
              </a:rPr>
              <a:t>arr[1:4] # [20,30,40]</a:t>
            </a:r>
            <a:endParaRPr lang="en-US" sz="1600" dirty="0"/>
          </a:p>
          <a:p>
            <a:pPr algn="l" indent="0" marL="0">
              <a:lnSpc>
                <a:spcPts val="2400"/>
              </a:lnSpc>
              <a:buNone/>
            </a:pPr>
            <a:r>
              <a:rPr lang="en-US" sz="1600" dirty="0">
                <a:solidFill>
                  <a:srgbClr val="FDE68A"/>
                </a:solidFill>
                <a:latin typeface="Courier New" pitchFamily="49" charset="0"/>
                <a:ea typeface="Courier New" pitchFamily="49" charset="-122"/>
                <a:cs typeface="Courier New" pitchFamily="49" charset="-120"/>
              </a:rPr>
              <a:t>arr[:3] # [10,20,30]</a:t>
            </a:r>
            <a:endParaRPr lang="en-US" sz="1600" dirty="0"/>
          </a:p>
          <a:p>
            <a:pPr algn="l" indent="0" marL="0">
              <a:lnSpc>
                <a:spcPts val="2400"/>
              </a:lnSpc>
              <a:buNone/>
            </a:pPr>
            <a:r>
              <a:rPr lang="en-US" sz="1600" dirty="0">
                <a:solidFill>
                  <a:srgbClr val="FDE68A"/>
                </a:solidFill>
                <a:latin typeface="Courier New" pitchFamily="49" charset="0"/>
                <a:ea typeface="Courier New" pitchFamily="49" charset="-122"/>
                <a:cs typeface="Courier New" pitchFamily="49" charset="-120"/>
              </a:rPr>
              <a:t>arr[::-1] # reversed</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ph type="title"/>
          </p:nvPr>
        </p:nvSpPr>
        <p:spPr>
          <a:xfrm>
            <a:off x="812800" y="698500"/>
            <a:ext cx="10883392" cy="500327"/>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0F172A"/>
                </a:solidFill>
                <a:latin typeface="Arial" pitchFamily="34" charset="0"/>
                <a:ea typeface="Arial" pitchFamily="34" charset="-122"/>
                <a:cs typeface="Arial" pitchFamily="34" charset="-120"/>
              </a:rPr>
              <a:t>Add, Update &amp; Remove</a:t>
            </a:r>
            <a:endParaRPr lang="en-US" sz="3400" dirty="0"/>
          </a:p>
        </p:txBody>
      </p:sp>
      <p:sp>
        <p:nvSpPr>
          <p:cNvPr id="3" name="Shape 1"/>
          <p:cNvSpPr/>
          <p:nvPr/>
        </p:nvSpPr>
        <p:spPr>
          <a:xfrm>
            <a:off x="812800" y="1363929"/>
            <a:ext cx="5181600" cy="1945614"/>
          </a:xfrm>
          <a:prstGeom prst="roundRect">
            <a:avLst>
              <a:gd name="adj" fmla="val 5222"/>
            </a:avLst>
          </a:prstGeom>
          <a:solidFill>
            <a:srgbClr val="0F172A"/>
          </a:solidFill>
          <a:ln/>
        </p:spPr>
      </p:sp>
      <p:sp>
        <p:nvSpPr>
          <p:cNvPr id="4" name="Text 2"/>
          <p:cNvSpPr/>
          <p:nvPr/>
        </p:nvSpPr>
        <p:spPr>
          <a:xfrm>
            <a:off x="1016000" y="1567129"/>
            <a:ext cx="491845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Add / Update</a:t>
            </a:r>
            <a:endParaRPr lang="en-US" sz="1300" dirty="0"/>
          </a:p>
        </p:txBody>
      </p:sp>
      <p:sp>
        <p:nvSpPr>
          <p:cNvPr id="5" name="Text 3"/>
          <p:cNvSpPr/>
          <p:nvPr/>
        </p:nvSpPr>
        <p:spPr>
          <a:xfrm>
            <a:off x="1016000" y="1887141"/>
            <a:ext cx="4918456" cy="12446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DE68A"/>
                </a:solidFill>
                <a:latin typeface="Courier New" pitchFamily="49" charset="0"/>
                <a:ea typeface="Courier New" pitchFamily="49" charset="-122"/>
                <a:cs typeface="Courier New" pitchFamily="49" charset="-120"/>
              </a:rPr>
              <a:t>arr[1] = 100</a:t>
            </a:r>
            <a:endParaRPr lang="en-US" sz="1600" dirty="0"/>
          </a:p>
          <a:p>
            <a:pPr algn="l" indent="0" marL="0">
              <a:lnSpc>
                <a:spcPts val="2400"/>
              </a:lnSpc>
              <a:buNone/>
            </a:pPr>
            <a:r>
              <a:rPr lang="en-US" sz="1600" dirty="0">
                <a:solidFill>
                  <a:srgbClr val="FDE68A"/>
                </a:solidFill>
                <a:latin typeface="Courier New" pitchFamily="49" charset="0"/>
                <a:ea typeface="Courier New" pitchFamily="49" charset="-122"/>
                <a:cs typeface="Courier New" pitchFamily="49" charset="-120"/>
              </a:rPr>
              <a:t>arr.append(60)</a:t>
            </a:r>
            <a:endParaRPr lang="en-US" sz="1600" dirty="0"/>
          </a:p>
          <a:p>
            <a:pPr algn="l" indent="0" marL="0">
              <a:lnSpc>
                <a:spcPts val="2400"/>
              </a:lnSpc>
              <a:buNone/>
            </a:pPr>
            <a:r>
              <a:rPr lang="en-US" sz="1600" dirty="0">
                <a:solidFill>
                  <a:srgbClr val="FDE68A"/>
                </a:solidFill>
                <a:latin typeface="Courier New" pitchFamily="49" charset="0"/>
                <a:ea typeface="Courier New" pitchFamily="49" charset="-122"/>
                <a:cs typeface="Courier New" pitchFamily="49" charset="-120"/>
              </a:rPr>
              <a:t>arr.insert(2, 25)</a:t>
            </a:r>
            <a:endParaRPr lang="en-US" sz="1600" dirty="0"/>
          </a:p>
          <a:p>
            <a:pPr algn="l" indent="0" marL="0">
              <a:lnSpc>
                <a:spcPts val="2400"/>
              </a:lnSpc>
              <a:buNone/>
            </a:pPr>
            <a:r>
              <a:rPr lang="en-US" sz="1600" dirty="0">
                <a:solidFill>
                  <a:srgbClr val="FDE68A"/>
                </a:solidFill>
                <a:latin typeface="Courier New" pitchFamily="49" charset="0"/>
                <a:ea typeface="Courier New" pitchFamily="49" charset="-122"/>
                <a:cs typeface="Courier New" pitchFamily="49" charset="-120"/>
              </a:rPr>
              <a:t>arr.extend([70, 80])</a:t>
            </a:r>
            <a:endParaRPr lang="en-US" sz="1600" dirty="0"/>
          </a:p>
        </p:txBody>
      </p:sp>
      <p:sp>
        <p:nvSpPr>
          <p:cNvPr id="6" name="Shape 4"/>
          <p:cNvSpPr/>
          <p:nvPr/>
        </p:nvSpPr>
        <p:spPr>
          <a:xfrm>
            <a:off x="6197600" y="1363929"/>
            <a:ext cx="5181600" cy="1945614"/>
          </a:xfrm>
          <a:prstGeom prst="roundRect">
            <a:avLst>
              <a:gd name="adj" fmla="val 5222"/>
            </a:avLst>
          </a:prstGeom>
          <a:solidFill>
            <a:srgbClr val="0F172A"/>
          </a:solidFill>
          <a:ln/>
        </p:spPr>
      </p:sp>
      <p:sp>
        <p:nvSpPr>
          <p:cNvPr id="7" name="Text 5"/>
          <p:cNvSpPr/>
          <p:nvPr/>
        </p:nvSpPr>
        <p:spPr>
          <a:xfrm>
            <a:off x="6400800" y="1567129"/>
            <a:ext cx="491845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Remove</a:t>
            </a:r>
            <a:endParaRPr lang="en-US" sz="1300" dirty="0"/>
          </a:p>
        </p:txBody>
      </p:sp>
      <p:sp>
        <p:nvSpPr>
          <p:cNvPr id="8" name="Text 6"/>
          <p:cNvSpPr/>
          <p:nvPr/>
        </p:nvSpPr>
        <p:spPr>
          <a:xfrm>
            <a:off x="6400800" y="1887141"/>
            <a:ext cx="4918456" cy="12446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DE68A"/>
                </a:solidFill>
                <a:latin typeface="Courier New" pitchFamily="49" charset="0"/>
                <a:ea typeface="Courier New" pitchFamily="49" charset="-122"/>
                <a:cs typeface="Courier New" pitchFamily="49" charset="-120"/>
              </a:rPr>
              <a:t>arr.remove(30)</a:t>
            </a:r>
            <a:endParaRPr lang="en-US" sz="1600" dirty="0"/>
          </a:p>
          <a:p>
            <a:pPr algn="l" indent="0" marL="0">
              <a:lnSpc>
                <a:spcPts val="2400"/>
              </a:lnSpc>
              <a:buNone/>
            </a:pPr>
            <a:r>
              <a:rPr lang="en-US" sz="1600" dirty="0">
                <a:solidFill>
                  <a:srgbClr val="FDE68A"/>
                </a:solidFill>
                <a:latin typeface="Courier New" pitchFamily="49" charset="0"/>
                <a:ea typeface="Courier New" pitchFamily="49" charset="-122"/>
                <a:cs typeface="Courier New" pitchFamily="49" charset="-120"/>
              </a:rPr>
              <a:t>arr.pop() # last item</a:t>
            </a:r>
            <a:endParaRPr lang="en-US" sz="1600" dirty="0"/>
          </a:p>
          <a:p>
            <a:pPr algn="l" indent="0" marL="0">
              <a:lnSpc>
                <a:spcPts val="2400"/>
              </a:lnSpc>
              <a:buNone/>
            </a:pPr>
            <a:r>
              <a:rPr lang="en-US" sz="1600" dirty="0">
                <a:solidFill>
                  <a:srgbClr val="FDE68A"/>
                </a:solidFill>
                <a:latin typeface="Courier New" pitchFamily="49" charset="0"/>
                <a:ea typeface="Courier New" pitchFamily="49" charset="-122"/>
                <a:cs typeface="Courier New" pitchFamily="49" charset="-120"/>
              </a:rPr>
              <a:t>del arr[2]</a:t>
            </a:r>
            <a:endParaRPr lang="en-US" sz="1600" dirty="0"/>
          </a:p>
          <a:p>
            <a:pPr algn="l" indent="0" marL="0">
              <a:lnSpc>
                <a:spcPts val="2400"/>
              </a:lnSpc>
              <a:buNone/>
            </a:pPr>
            <a:r>
              <a:rPr lang="en-US" sz="1600" dirty="0">
                <a:solidFill>
                  <a:srgbClr val="FDE68A"/>
                </a:solidFill>
                <a:latin typeface="Courier New" pitchFamily="49" charset="0"/>
                <a:ea typeface="Courier New" pitchFamily="49" charset="-122"/>
                <a:cs typeface="Courier New" pitchFamily="49" charset="-120"/>
              </a:rPr>
              <a:t>arr.clear()</a:t>
            </a:r>
            <a:endParaRPr lang="en-US" sz="1600" dirty="0"/>
          </a:p>
        </p:txBody>
      </p:sp>
      <p:sp>
        <p:nvSpPr>
          <p:cNvPr id="9" name="Text 7"/>
          <p:cNvSpPr/>
          <p:nvPr/>
        </p:nvSpPr>
        <p:spPr>
          <a:xfrm>
            <a:off x="812800" y="3500041"/>
            <a:ext cx="10883392" cy="299707"/>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475569"/>
                </a:solidFill>
                <a:latin typeface="Arial" pitchFamily="34" charset="0"/>
                <a:ea typeface="Arial" pitchFamily="34" charset="-122"/>
                <a:cs typeface="Arial" pitchFamily="34" charset="-120"/>
              </a:rPr>
              <a:t>del</a:t>
            </a:r>
            <a:r>
              <a:rPr lang="en-US" sz="1600" dirty="0">
                <a:solidFill>
                  <a:srgbClr val="475569"/>
                </a:solidFill>
                <a:latin typeface="Arial" pitchFamily="34" charset="0"/>
                <a:ea typeface="Arial" pitchFamily="34" charset="-122"/>
                <a:cs typeface="Arial" pitchFamily="34" charset="-120"/>
              </a:rPr>
              <a:t> can also remove a range: </a:t>
            </a:r>
            <a:r>
              <a:rPr lang="en-US" sz="1600" b="1" dirty="0">
                <a:solidFill>
                  <a:srgbClr val="475569"/>
                </a:solidFill>
                <a:latin typeface="Arial" pitchFamily="34" charset="0"/>
                <a:ea typeface="Arial" pitchFamily="34" charset="-122"/>
                <a:cs typeface="Arial" pitchFamily="34" charset="-120"/>
              </a:rPr>
              <a:t>del arr[1:4]</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Text 0"/>
          <p:cNvSpPr/>
          <p:nvPr>
            <p:ph type="title"/>
          </p:nvPr>
        </p:nvSpPr>
        <p:spPr>
          <a:xfrm>
            <a:off x="812800" y="698500"/>
            <a:ext cx="10883392" cy="500327"/>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0F172A"/>
                </a:solidFill>
                <a:latin typeface="Arial" pitchFamily="34" charset="0"/>
                <a:ea typeface="Arial" pitchFamily="34" charset="-122"/>
                <a:cs typeface="Arial" pitchFamily="34" charset="-120"/>
              </a:rPr>
              <a:t>Search, Sort &amp; Reverse</a:t>
            </a:r>
            <a:endParaRPr lang="en-US" sz="3400" dirty="0"/>
          </a:p>
        </p:txBody>
      </p:sp>
      <p:sp>
        <p:nvSpPr>
          <p:cNvPr id="3" name="Shape 1"/>
          <p:cNvSpPr/>
          <p:nvPr/>
        </p:nvSpPr>
        <p:spPr>
          <a:xfrm>
            <a:off x="812800" y="1363929"/>
            <a:ext cx="5181600" cy="1945614"/>
          </a:xfrm>
          <a:prstGeom prst="roundRect">
            <a:avLst>
              <a:gd name="adj" fmla="val 5222"/>
            </a:avLst>
          </a:prstGeom>
          <a:solidFill>
            <a:srgbClr val="0F172A"/>
          </a:solidFill>
          <a:ln/>
        </p:spPr>
      </p:sp>
      <p:sp>
        <p:nvSpPr>
          <p:cNvPr id="4" name="Text 2"/>
          <p:cNvSpPr/>
          <p:nvPr/>
        </p:nvSpPr>
        <p:spPr>
          <a:xfrm>
            <a:off x="1016000" y="1567129"/>
            <a:ext cx="491845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Search</a:t>
            </a:r>
            <a:endParaRPr lang="en-US" sz="1300" dirty="0"/>
          </a:p>
        </p:txBody>
      </p:sp>
      <p:sp>
        <p:nvSpPr>
          <p:cNvPr id="5" name="Text 3"/>
          <p:cNvSpPr/>
          <p:nvPr/>
        </p:nvSpPr>
        <p:spPr>
          <a:xfrm>
            <a:off x="1016000" y="1887141"/>
            <a:ext cx="4918456" cy="12446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DE68A"/>
                </a:solidFill>
                <a:latin typeface="Courier New" pitchFamily="49" charset="0"/>
                <a:ea typeface="Courier New" pitchFamily="49" charset="-122"/>
                <a:cs typeface="Courier New" pitchFamily="49" charset="-120"/>
              </a:rPr>
              <a:t>20 in arr # True</a:t>
            </a:r>
            <a:endParaRPr lang="en-US" sz="1600" dirty="0"/>
          </a:p>
          <a:p>
            <a:pPr algn="l" indent="0" marL="0">
              <a:lnSpc>
                <a:spcPts val="2400"/>
              </a:lnSpc>
              <a:buNone/>
            </a:pPr>
            <a:r>
              <a:rPr lang="en-US" sz="1600" dirty="0">
                <a:solidFill>
                  <a:srgbClr val="FDE68A"/>
                </a:solidFill>
                <a:latin typeface="Courier New" pitchFamily="49" charset="0"/>
                <a:ea typeface="Courier New" pitchFamily="49" charset="-122"/>
                <a:cs typeface="Courier New" pitchFamily="49" charset="-120"/>
              </a:rPr>
              <a:t>100 not in arr # True</a:t>
            </a:r>
            <a:endParaRPr lang="en-US" sz="1600" dirty="0"/>
          </a:p>
          <a:p>
            <a:pPr algn="l" indent="0" marL="0">
              <a:lnSpc>
                <a:spcPts val="2400"/>
              </a:lnSpc>
              <a:buNone/>
            </a:pPr>
            <a:r>
              <a:rPr lang="en-US" sz="1600" dirty="0">
                <a:solidFill>
                  <a:srgbClr val="FDE68A"/>
                </a:solidFill>
                <a:latin typeface="Courier New" pitchFamily="49" charset="0"/>
                <a:ea typeface="Courier New" pitchFamily="49" charset="-122"/>
                <a:cs typeface="Courier New" pitchFamily="49" charset="-120"/>
              </a:rPr>
              <a:t>arr.index(30) # 2</a:t>
            </a:r>
            <a:endParaRPr lang="en-US" sz="1600" dirty="0"/>
          </a:p>
          <a:p>
            <a:pPr algn="l" indent="0" marL="0">
              <a:lnSpc>
                <a:spcPts val="2400"/>
              </a:lnSpc>
              <a:buNone/>
            </a:pPr>
            <a:r>
              <a:rPr lang="en-US" sz="1600" dirty="0">
                <a:solidFill>
                  <a:srgbClr val="FDE68A"/>
                </a:solidFill>
                <a:latin typeface="Courier New" pitchFamily="49" charset="0"/>
                <a:ea typeface="Courier New" pitchFamily="49" charset="-122"/>
                <a:cs typeface="Courier New" pitchFamily="49" charset="-120"/>
              </a:rPr>
              <a:t>arr.count(20) # 1</a:t>
            </a:r>
            <a:endParaRPr lang="en-US" sz="1600" dirty="0"/>
          </a:p>
        </p:txBody>
      </p:sp>
      <p:sp>
        <p:nvSpPr>
          <p:cNvPr id="6" name="Shape 4"/>
          <p:cNvSpPr/>
          <p:nvPr/>
        </p:nvSpPr>
        <p:spPr>
          <a:xfrm>
            <a:off x="6197600" y="1363929"/>
            <a:ext cx="5181600" cy="1945614"/>
          </a:xfrm>
          <a:prstGeom prst="roundRect">
            <a:avLst>
              <a:gd name="adj" fmla="val 5222"/>
            </a:avLst>
          </a:prstGeom>
          <a:solidFill>
            <a:srgbClr val="0F172A"/>
          </a:solidFill>
          <a:ln/>
        </p:spPr>
      </p:sp>
      <p:sp>
        <p:nvSpPr>
          <p:cNvPr id="7" name="Text 5"/>
          <p:cNvSpPr/>
          <p:nvPr/>
        </p:nvSpPr>
        <p:spPr>
          <a:xfrm>
            <a:off x="6400800" y="1567129"/>
            <a:ext cx="491845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Sort &amp; Reverse</a:t>
            </a:r>
            <a:endParaRPr lang="en-US" sz="1300" dirty="0"/>
          </a:p>
        </p:txBody>
      </p:sp>
      <p:sp>
        <p:nvSpPr>
          <p:cNvPr id="8" name="Text 6"/>
          <p:cNvSpPr/>
          <p:nvPr/>
        </p:nvSpPr>
        <p:spPr>
          <a:xfrm>
            <a:off x="6400800" y="1887141"/>
            <a:ext cx="4918456" cy="12446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DE68A"/>
                </a:solidFill>
                <a:latin typeface="Courier New" pitchFamily="49" charset="0"/>
                <a:ea typeface="Courier New" pitchFamily="49" charset="-122"/>
                <a:cs typeface="Courier New" pitchFamily="49" charset="-120"/>
              </a:rPr>
              <a:t>arr.sort()</a:t>
            </a:r>
            <a:endParaRPr lang="en-US" sz="1600" dirty="0"/>
          </a:p>
          <a:p>
            <a:pPr algn="l" indent="0" marL="0">
              <a:lnSpc>
                <a:spcPts val="2400"/>
              </a:lnSpc>
              <a:buNone/>
            </a:pPr>
            <a:r>
              <a:rPr lang="en-US" sz="1600" dirty="0">
                <a:solidFill>
                  <a:srgbClr val="FDE68A"/>
                </a:solidFill>
                <a:latin typeface="Courier New" pitchFamily="49" charset="0"/>
                <a:ea typeface="Courier New" pitchFamily="49" charset="-122"/>
                <a:cs typeface="Courier New" pitchFamily="49" charset="-120"/>
              </a:rPr>
              <a:t>arr.sort(reverse=True)</a:t>
            </a:r>
            <a:endParaRPr lang="en-US" sz="1600" dirty="0"/>
          </a:p>
          <a:p>
            <a:pPr algn="l" indent="0" marL="0">
              <a:lnSpc>
                <a:spcPts val="2400"/>
              </a:lnSpc>
              <a:buNone/>
            </a:pPr>
            <a:r>
              <a:rPr lang="en-US" sz="1600" dirty="0">
                <a:solidFill>
                  <a:srgbClr val="FDE68A"/>
                </a:solidFill>
                <a:latin typeface="Courier New" pitchFamily="49" charset="0"/>
                <a:ea typeface="Courier New" pitchFamily="49" charset="-122"/>
                <a:cs typeface="Courier New" pitchFamily="49" charset="-120"/>
              </a:rPr>
              <a:t>new = sorted(arr)</a:t>
            </a:r>
            <a:endParaRPr lang="en-US" sz="1600" dirty="0"/>
          </a:p>
          <a:p>
            <a:pPr algn="l" indent="0" marL="0">
              <a:lnSpc>
                <a:spcPts val="2400"/>
              </a:lnSpc>
              <a:buNone/>
            </a:pPr>
            <a:r>
              <a:rPr lang="en-US" sz="1600" dirty="0">
                <a:solidFill>
                  <a:srgbClr val="FDE68A"/>
                </a:solidFill>
                <a:latin typeface="Courier New" pitchFamily="49" charset="0"/>
                <a:ea typeface="Courier New" pitchFamily="49" charset="-122"/>
                <a:cs typeface="Courier New" pitchFamily="49" charset="-120"/>
              </a:rPr>
              <a:t>arr.reverse()</a:t>
            </a:r>
            <a:endParaRPr lang="en-US" sz="1600" dirty="0"/>
          </a:p>
        </p:txBody>
      </p:sp>
      <p:sp>
        <p:nvSpPr>
          <p:cNvPr id="9" name="Text 7"/>
          <p:cNvSpPr/>
          <p:nvPr/>
        </p:nvSpPr>
        <p:spPr>
          <a:xfrm>
            <a:off x="812800" y="3500041"/>
            <a:ext cx="10883392" cy="299707"/>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475569"/>
                </a:solidFill>
                <a:latin typeface="Arial" pitchFamily="34" charset="0"/>
                <a:ea typeface="Arial" pitchFamily="34" charset="-122"/>
                <a:cs typeface="Arial" pitchFamily="34" charset="-120"/>
              </a:rPr>
              <a:t>sort()</a:t>
            </a:r>
            <a:r>
              <a:rPr lang="en-US" sz="1600" dirty="0">
                <a:solidFill>
                  <a:srgbClr val="475569"/>
                </a:solidFill>
                <a:latin typeface="Arial" pitchFamily="34" charset="0"/>
                <a:ea typeface="Arial" pitchFamily="34" charset="-122"/>
                <a:cs typeface="Arial" pitchFamily="34" charset="-120"/>
              </a:rPr>
              <a:t> changes the original list. </a:t>
            </a:r>
            <a:r>
              <a:rPr lang="en-US" sz="1600" b="1" dirty="0">
                <a:solidFill>
                  <a:srgbClr val="475569"/>
                </a:solidFill>
                <a:latin typeface="Arial" pitchFamily="34" charset="0"/>
                <a:ea typeface="Arial" pitchFamily="34" charset="-122"/>
                <a:cs typeface="Arial" pitchFamily="34" charset="-120"/>
              </a:rPr>
              <a:t>sorted()</a:t>
            </a:r>
            <a:r>
              <a:rPr lang="en-US" sz="1600" dirty="0">
                <a:solidFill>
                  <a:srgbClr val="475569"/>
                </a:solidFill>
                <a:latin typeface="Arial" pitchFamily="34" charset="0"/>
                <a:ea typeface="Arial" pitchFamily="34" charset="-122"/>
                <a:cs typeface="Arial" pitchFamily="34" charset="-120"/>
              </a:rPr>
              <a:t> gives a new list.</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Text 0"/>
          <p:cNvSpPr/>
          <p:nvPr>
            <p:ph type="title"/>
          </p:nvPr>
        </p:nvSpPr>
        <p:spPr>
          <a:xfrm>
            <a:off x="812800" y="698500"/>
            <a:ext cx="10883392" cy="500327"/>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0F172A"/>
                </a:solidFill>
                <a:latin typeface="Arial" pitchFamily="34" charset="0"/>
                <a:ea typeface="Arial" pitchFamily="34" charset="-122"/>
                <a:cs typeface="Arial" pitchFamily="34" charset="-120"/>
              </a:rPr>
              <a:t>Operators &amp; Built-in functions</a:t>
            </a:r>
            <a:endParaRPr lang="en-US" sz="3400" dirty="0"/>
          </a:p>
        </p:txBody>
      </p:sp>
      <p:sp>
        <p:nvSpPr>
          <p:cNvPr id="3" name="Shape 1"/>
          <p:cNvSpPr/>
          <p:nvPr/>
        </p:nvSpPr>
        <p:spPr>
          <a:xfrm>
            <a:off x="812800" y="1363929"/>
            <a:ext cx="5181600" cy="1869414"/>
          </a:xfrm>
          <a:prstGeom prst="roundRect">
            <a:avLst>
              <a:gd name="adj" fmla="val 5435"/>
            </a:avLst>
          </a:prstGeom>
          <a:solidFill>
            <a:srgbClr val="0F172A"/>
          </a:solidFill>
          <a:ln/>
        </p:spPr>
      </p:sp>
      <p:sp>
        <p:nvSpPr>
          <p:cNvPr id="4" name="Text 2"/>
          <p:cNvSpPr/>
          <p:nvPr/>
        </p:nvSpPr>
        <p:spPr>
          <a:xfrm>
            <a:off x="1016000" y="1567129"/>
            <a:ext cx="491845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Operators</a:t>
            </a:r>
            <a:endParaRPr lang="en-US" sz="1300" dirty="0"/>
          </a:p>
        </p:txBody>
      </p:sp>
      <p:sp>
        <p:nvSpPr>
          <p:cNvPr id="5" name="Text 3"/>
          <p:cNvSpPr/>
          <p:nvPr/>
        </p:nvSpPr>
        <p:spPr>
          <a:xfrm>
            <a:off x="1016000" y="1887141"/>
            <a:ext cx="4918456"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DE68A"/>
                </a:solidFill>
                <a:latin typeface="Courier New" pitchFamily="49" charset="0"/>
                <a:ea typeface="Courier New" pitchFamily="49" charset="-122"/>
                <a:cs typeface="Courier New" pitchFamily="49" charset="-120"/>
              </a:rPr>
              <a:t>a + b # join</a:t>
            </a:r>
            <a:endParaRPr lang="en-US" sz="1500" dirty="0"/>
          </a:p>
          <a:p>
            <a:pPr algn="l" indent="0" marL="0">
              <a:lnSpc>
                <a:spcPts val="2250"/>
              </a:lnSpc>
              <a:buNone/>
            </a:pPr>
            <a:r>
              <a:rPr lang="en-US" sz="1500" dirty="0">
                <a:solidFill>
                  <a:srgbClr val="FDE68A"/>
                </a:solidFill>
                <a:latin typeface="Courier New" pitchFamily="49" charset="0"/>
                <a:ea typeface="Courier New" pitchFamily="49" charset="-122"/>
                <a:cs typeface="Courier New" pitchFamily="49" charset="-120"/>
              </a:rPr>
              <a:t>[1, 2] * 2 # [1,2,1,2]</a:t>
            </a:r>
            <a:endParaRPr lang="en-US" sz="1500" dirty="0"/>
          </a:p>
          <a:p>
            <a:pPr algn="l" indent="0" marL="0">
              <a:lnSpc>
                <a:spcPts val="2250"/>
              </a:lnSpc>
              <a:buNone/>
            </a:pPr>
            <a:r>
              <a:rPr lang="en-US" sz="1500" dirty="0">
                <a:solidFill>
                  <a:srgbClr val="FDE68A"/>
                </a:solidFill>
                <a:latin typeface="Courier New" pitchFamily="49" charset="0"/>
                <a:ea typeface="Courier New" pitchFamily="49" charset="-122"/>
                <a:cs typeface="Courier New" pitchFamily="49" charset="-120"/>
              </a:rPr>
              <a:t>a == b # compare</a:t>
            </a:r>
            <a:endParaRPr lang="en-US" sz="1500" dirty="0"/>
          </a:p>
        </p:txBody>
      </p:sp>
      <p:sp>
        <p:nvSpPr>
          <p:cNvPr id="6" name="Shape 4"/>
          <p:cNvSpPr/>
          <p:nvPr/>
        </p:nvSpPr>
        <p:spPr>
          <a:xfrm>
            <a:off x="6197600" y="1363929"/>
            <a:ext cx="5181600" cy="1869414"/>
          </a:xfrm>
          <a:prstGeom prst="roundRect">
            <a:avLst>
              <a:gd name="adj" fmla="val 5435"/>
            </a:avLst>
          </a:prstGeom>
          <a:solidFill>
            <a:srgbClr val="0F172A"/>
          </a:solidFill>
          <a:ln/>
        </p:spPr>
      </p:sp>
      <p:sp>
        <p:nvSpPr>
          <p:cNvPr id="7" name="Text 5"/>
          <p:cNvSpPr/>
          <p:nvPr/>
        </p:nvSpPr>
        <p:spPr>
          <a:xfrm>
            <a:off x="6400800" y="1567129"/>
            <a:ext cx="491845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Functions</a:t>
            </a:r>
            <a:endParaRPr lang="en-US" sz="1300" dirty="0"/>
          </a:p>
        </p:txBody>
      </p:sp>
      <p:sp>
        <p:nvSpPr>
          <p:cNvPr id="8" name="Text 6"/>
          <p:cNvSpPr/>
          <p:nvPr/>
        </p:nvSpPr>
        <p:spPr>
          <a:xfrm>
            <a:off x="6400800" y="1887141"/>
            <a:ext cx="4918456" cy="1168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DE68A"/>
                </a:solidFill>
                <a:latin typeface="Courier New" pitchFamily="49" charset="0"/>
                <a:ea typeface="Courier New" pitchFamily="49" charset="-122"/>
                <a:cs typeface="Courier New" pitchFamily="49" charset="-120"/>
              </a:rPr>
              <a:t>len(arr) sum(arr)</a:t>
            </a:r>
            <a:endParaRPr lang="en-US" sz="1500" dirty="0"/>
          </a:p>
          <a:p>
            <a:pPr algn="l" indent="0" marL="0">
              <a:lnSpc>
                <a:spcPts val="2250"/>
              </a:lnSpc>
              <a:buNone/>
            </a:pPr>
            <a:r>
              <a:rPr lang="en-US" sz="1500" dirty="0">
                <a:solidFill>
                  <a:srgbClr val="FDE68A"/>
                </a:solidFill>
                <a:latin typeface="Courier New" pitchFamily="49" charset="0"/>
                <a:ea typeface="Courier New" pitchFamily="49" charset="-122"/>
                <a:cs typeface="Courier New" pitchFamily="49" charset="-120"/>
              </a:rPr>
              <a:t>min(arr) max(arr)</a:t>
            </a:r>
            <a:endParaRPr lang="en-US" sz="1500" dirty="0"/>
          </a:p>
          <a:p>
            <a:pPr algn="l" indent="0" marL="0">
              <a:lnSpc>
                <a:spcPts val="2250"/>
              </a:lnSpc>
              <a:buNone/>
            </a:pPr>
            <a:r>
              <a:rPr lang="en-US" sz="1500" dirty="0">
                <a:solidFill>
                  <a:srgbClr val="FDE68A"/>
                </a:solidFill>
                <a:latin typeface="Courier New" pitchFamily="49" charset="0"/>
                <a:ea typeface="Courier New" pitchFamily="49" charset="-122"/>
                <a:cs typeface="Courier New" pitchFamily="49" charset="-120"/>
              </a:rPr>
              <a:t>enumerate(arr)</a:t>
            </a:r>
            <a:endParaRPr lang="en-US" sz="1500" dirty="0"/>
          </a:p>
          <a:p>
            <a:pPr algn="l" indent="0" marL="0">
              <a:lnSpc>
                <a:spcPts val="2250"/>
              </a:lnSpc>
              <a:buNone/>
            </a:pPr>
            <a:r>
              <a:rPr lang="en-US" sz="1500" dirty="0">
                <a:solidFill>
                  <a:srgbClr val="FDE68A"/>
                </a:solidFill>
                <a:latin typeface="Courier New" pitchFamily="49" charset="0"/>
                <a:ea typeface="Courier New" pitchFamily="49" charset="-122"/>
                <a:cs typeface="Courier New" pitchFamily="49" charset="-120"/>
              </a:rPr>
              <a:t>zip(a, b)</a:t>
            </a:r>
            <a:endParaRPr lang="en-US" sz="1500" dirty="0"/>
          </a:p>
        </p:txBody>
      </p:sp>
      <p:sp>
        <p:nvSpPr>
          <p:cNvPr id="9" name="Shape 7"/>
          <p:cNvSpPr/>
          <p:nvPr/>
        </p:nvSpPr>
        <p:spPr>
          <a:xfrm>
            <a:off x="812800" y="3423841"/>
            <a:ext cx="10566400" cy="2672159"/>
          </a:xfrm>
          <a:prstGeom prst="roundRect">
            <a:avLst>
              <a:gd name="adj" fmla="val 3802"/>
            </a:avLst>
          </a:prstGeom>
          <a:solidFill>
            <a:srgbClr val="0F172A"/>
          </a:solidFill>
          <a:ln/>
        </p:spPr>
      </p:sp>
      <p:sp>
        <p:nvSpPr>
          <p:cNvPr id="10" name="Text 8"/>
          <p:cNvSpPr/>
          <p:nvPr/>
        </p:nvSpPr>
        <p:spPr>
          <a:xfrm>
            <a:off x="1016000" y="3627041"/>
            <a:ext cx="104648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Unpacking</a:t>
            </a:r>
            <a:endParaRPr lang="en-US" sz="1300" dirty="0"/>
          </a:p>
        </p:txBody>
      </p:sp>
      <p:sp>
        <p:nvSpPr>
          <p:cNvPr id="11" name="Text 9"/>
          <p:cNvSpPr/>
          <p:nvPr/>
        </p:nvSpPr>
        <p:spPr>
          <a:xfrm>
            <a:off x="1016000" y="3947058"/>
            <a:ext cx="10464800"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DE68A"/>
                </a:solidFill>
                <a:latin typeface="Courier New" pitchFamily="49" charset="0"/>
                <a:ea typeface="Courier New" pitchFamily="49" charset="-122"/>
                <a:cs typeface="Courier New" pitchFamily="49" charset="-120"/>
              </a:rPr>
              <a:t>a, b, c = [10, 20, 30]</a:t>
            </a:r>
            <a:endParaRPr lang="en-US" sz="1500" dirty="0"/>
          </a:p>
          <a:p>
            <a:pPr algn="l" indent="0" marL="0">
              <a:lnSpc>
                <a:spcPts val="2250"/>
              </a:lnSpc>
              <a:buNone/>
            </a:pPr>
            <a:r>
              <a:rPr lang="en-US" sz="1500" dirty="0">
                <a:solidFill>
                  <a:srgbClr val="FDE68A"/>
                </a:solidFill>
                <a:latin typeface="Courier New" pitchFamily="49" charset="0"/>
                <a:ea typeface="Courier New" pitchFamily="49" charset="-122"/>
                <a:cs typeface="Courier New" pitchFamily="49" charset="-120"/>
              </a:rPr>
              <a:t>a, *b = [10, 20, 30, 40] # b = [20,30,40]</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Text 0"/>
          <p:cNvSpPr/>
          <p:nvPr>
            <p:ph type="title"/>
          </p:nvPr>
        </p:nvSpPr>
        <p:spPr>
          <a:xfrm>
            <a:off x="812800" y="698500"/>
            <a:ext cx="10883392" cy="500327"/>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0F172A"/>
                </a:solidFill>
                <a:latin typeface="Arial" pitchFamily="34" charset="0"/>
                <a:ea typeface="Arial" pitchFamily="34" charset="-122"/>
                <a:cs typeface="Arial" pitchFamily="34" charset="-120"/>
              </a:rPr>
              <a:t>Nested List</a:t>
            </a:r>
            <a:endParaRPr lang="en-US" sz="3400" dirty="0"/>
          </a:p>
        </p:txBody>
      </p:sp>
      <p:sp>
        <p:nvSpPr>
          <p:cNvPr id="3" name="Text 1"/>
          <p:cNvSpPr/>
          <p:nvPr/>
        </p:nvSpPr>
        <p:spPr>
          <a:xfrm>
            <a:off x="812800" y="1363935"/>
            <a:ext cx="10883392" cy="316839"/>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0F172A"/>
                </a:solidFill>
                <a:latin typeface="Arial" pitchFamily="34" charset="0"/>
                <a:ea typeface="Arial" pitchFamily="34" charset="-122"/>
                <a:cs typeface="Arial" pitchFamily="34" charset="-120"/>
              </a:rPr>
              <a:t>A </a:t>
            </a:r>
            <a:r>
              <a:rPr lang="en-US" sz="1700" b="1" dirty="0">
                <a:solidFill>
                  <a:srgbClr val="0F172A"/>
                </a:solidFill>
                <a:latin typeface="Arial" pitchFamily="34" charset="0"/>
                <a:ea typeface="Arial" pitchFamily="34" charset="-122"/>
                <a:cs typeface="Arial" pitchFamily="34" charset="-120"/>
              </a:rPr>
              <a:t>list inside another list</a:t>
            </a:r>
            <a:r>
              <a:rPr lang="en-US" sz="1700" dirty="0">
                <a:solidFill>
                  <a:srgbClr val="0F172A"/>
                </a:solidFill>
                <a:latin typeface="Arial" pitchFamily="34" charset="0"/>
                <a:ea typeface="Arial" pitchFamily="34" charset="-122"/>
                <a:cs typeface="Arial" pitchFamily="34" charset="-120"/>
              </a:rPr>
              <a:t>, like a table. Access with </a:t>
            </a:r>
            <a:r>
              <a:rPr lang="en-US" sz="1700" b="1" dirty="0">
                <a:solidFill>
                  <a:srgbClr val="0F172A"/>
                </a:solidFill>
                <a:latin typeface="Arial" pitchFamily="34" charset="0"/>
                <a:ea typeface="Arial" pitchFamily="34" charset="-122"/>
                <a:cs typeface="Arial" pitchFamily="34" charset="-120"/>
              </a:rPr>
              <a:t>arr[row][column]</a:t>
            </a:r>
            <a:r>
              <a:rPr lang="en-US" sz="1700" dirty="0">
                <a:solidFill>
                  <a:srgbClr val="0F172A"/>
                </a:solidFill>
                <a:latin typeface="Arial" pitchFamily="34" charset="0"/>
                <a:ea typeface="Arial" pitchFamily="34" charset="-122"/>
                <a:cs typeface="Arial" pitchFamily="34" charset="-120"/>
              </a:rPr>
              <a:t>.</a:t>
            </a:r>
            <a:endParaRPr lang="en-US" sz="1700" dirty="0"/>
          </a:p>
        </p:txBody>
      </p:sp>
      <p:sp>
        <p:nvSpPr>
          <p:cNvPr id="4" name="Text 2"/>
          <p:cNvSpPr/>
          <p:nvPr/>
        </p:nvSpPr>
        <p:spPr>
          <a:xfrm>
            <a:off x="822325" y="1855391"/>
            <a:ext cx="465138" cy="494837"/>
          </a:xfrm>
          <a:prstGeom prst="roundRect">
            <a:avLst>
              <a:gd name="adj" fmla="val 11604"/>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1</a:t>
            </a:r>
            <a:endParaRPr lang="en-US" sz="1700" dirty="0"/>
          </a:p>
        </p:txBody>
      </p:sp>
      <p:sp>
        <p:nvSpPr>
          <p:cNvPr id="5" name="Text 3"/>
          <p:cNvSpPr/>
          <p:nvPr/>
        </p:nvSpPr>
        <p:spPr>
          <a:xfrm>
            <a:off x="1370013" y="1855391"/>
            <a:ext cx="465138" cy="494837"/>
          </a:xfrm>
          <a:prstGeom prst="roundRect">
            <a:avLst>
              <a:gd name="adj" fmla="val 11604"/>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2</a:t>
            </a:r>
            <a:endParaRPr lang="en-US" sz="1700" dirty="0"/>
          </a:p>
        </p:txBody>
      </p:sp>
      <p:sp>
        <p:nvSpPr>
          <p:cNvPr id="6" name="Text 4"/>
          <p:cNvSpPr/>
          <p:nvPr/>
        </p:nvSpPr>
        <p:spPr>
          <a:xfrm>
            <a:off x="1917700" y="1855391"/>
            <a:ext cx="465138" cy="494837"/>
          </a:xfrm>
          <a:prstGeom prst="roundRect">
            <a:avLst>
              <a:gd name="adj" fmla="val 11604"/>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3</a:t>
            </a:r>
            <a:endParaRPr lang="en-US" sz="1700" dirty="0"/>
          </a:p>
        </p:txBody>
      </p:sp>
      <p:sp>
        <p:nvSpPr>
          <p:cNvPr id="7" name="Text 5"/>
          <p:cNvSpPr/>
          <p:nvPr/>
        </p:nvSpPr>
        <p:spPr>
          <a:xfrm>
            <a:off x="822325" y="2432782"/>
            <a:ext cx="465138" cy="494837"/>
          </a:xfrm>
          <a:prstGeom prst="roundRect">
            <a:avLst>
              <a:gd name="adj" fmla="val 11604"/>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4</a:t>
            </a:r>
            <a:endParaRPr lang="en-US" sz="1700" dirty="0"/>
          </a:p>
        </p:txBody>
      </p:sp>
      <p:sp>
        <p:nvSpPr>
          <p:cNvPr id="8" name="Text 6"/>
          <p:cNvSpPr/>
          <p:nvPr/>
        </p:nvSpPr>
        <p:spPr>
          <a:xfrm>
            <a:off x="1370013" y="2432782"/>
            <a:ext cx="465138" cy="494837"/>
          </a:xfrm>
          <a:prstGeom prst="roundRect">
            <a:avLst>
              <a:gd name="adj" fmla="val 11604"/>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5</a:t>
            </a:r>
            <a:endParaRPr lang="en-US" sz="1700" dirty="0"/>
          </a:p>
        </p:txBody>
      </p:sp>
      <p:sp>
        <p:nvSpPr>
          <p:cNvPr id="9" name="Text 7"/>
          <p:cNvSpPr/>
          <p:nvPr/>
        </p:nvSpPr>
        <p:spPr>
          <a:xfrm>
            <a:off x="1917700" y="2432782"/>
            <a:ext cx="465138" cy="494837"/>
          </a:xfrm>
          <a:prstGeom prst="roundRect">
            <a:avLst>
              <a:gd name="adj" fmla="val 11604"/>
            </a:avLst>
          </a:prstGeom>
          <a:solidFill>
            <a:srgbClr val="FFD43B"/>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6</a:t>
            </a:r>
            <a:endParaRPr lang="en-US" sz="1700" dirty="0"/>
          </a:p>
        </p:txBody>
      </p:sp>
      <p:sp>
        <p:nvSpPr>
          <p:cNvPr id="10" name="Text 8"/>
          <p:cNvSpPr/>
          <p:nvPr/>
        </p:nvSpPr>
        <p:spPr>
          <a:xfrm>
            <a:off x="822325" y="3010173"/>
            <a:ext cx="465138" cy="494837"/>
          </a:xfrm>
          <a:prstGeom prst="roundRect">
            <a:avLst>
              <a:gd name="adj" fmla="val 11604"/>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7</a:t>
            </a:r>
            <a:endParaRPr lang="en-US" sz="1700" dirty="0"/>
          </a:p>
        </p:txBody>
      </p:sp>
      <p:sp>
        <p:nvSpPr>
          <p:cNvPr id="11" name="Text 9"/>
          <p:cNvSpPr/>
          <p:nvPr/>
        </p:nvSpPr>
        <p:spPr>
          <a:xfrm>
            <a:off x="1370013" y="3010173"/>
            <a:ext cx="465138" cy="494837"/>
          </a:xfrm>
          <a:prstGeom prst="roundRect">
            <a:avLst>
              <a:gd name="adj" fmla="val 11604"/>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8</a:t>
            </a:r>
            <a:endParaRPr lang="en-US" sz="1700" dirty="0"/>
          </a:p>
        </p:txBody>
      </p:sp>
      <p:sp>
        <p:nvSpPr>
          <p:cNvPr id="12" name="Text 10"/>
          <p:cNvSpPr/>
          <p:nvPr/>
        </p:nvSpPr>
        <p:spPr>
          <a:xfrm>
            <a:off x="1917700" y="3010173"/>
            <a:ext cx="465138" cy="494837"/>
          </a:xfrm>
          <a:prstGeom prst="roundRect">
            <a:avLst>
              <a:gd name="adj" fmla="val 11604"/>
            </a:avLst>
          </a:prstGeom>
          <a:solidFill>
            <a:srgbClr val="DBEAFE"/>
          </a:solidFill>
          <a:ln w="19050">
            <a:solidFill>
              <a:srgbClr val="3776AB"/>
            </a:solidFill>
            <a:prstDash val="solid"/>
          </a:ln>
        </p:spPr>
        <p:txBody>
          <a:bodyPr wrap="none" lIns="0" tIns="0" rIns="0" bIns="0" rtlCol="0" anchor="ctr">
            <a:normAutofit/>
          </a:bodyPr>
          <a:lstStyle/>
          <a:p>
            <a:pPr algn="ctr" indent="0" marL="0">
              <a:lnSpc>
                <a:spcPts val="2380"/>
              </a:lnSpc>
              <a:buNone/>
            </a:pPr>
            <a:r>
              <a:rPr lang="en-US" sz="1700" b="1" dirty="0">
                <a:solidFill>
                  <a:srgbClr val="0F172A"/>
                </a:solidFill>
                <a:latin typeface="Arial" pitchFamily="34" charset="0"/>
                <a:ea typeface="Arial" pitchFamily="34" charset="-122"/>
                <a:cs typeface="Arial" pitchFamily="34" charset="-120"/>
              </a:rPr>
              <a:t>9</a:t>
            </a:r>
            <a:endParaRPr lang="en-US" sz="1700" dirty="0"/>
          </a:p>
        </p:txBody>
      </p:sp>
      <p:sp>
        <p:nvSpPr>
          <p:cNvPr id="13" name="Shape 11"/>
          <p:cNvSpPr/>
          <p:nvPr/>
        </p:nvSpPr>
        <p:spPr>
          <a:xfrm>
            <a:off x="2595563" y="1845866"/>
            <a:ext cx="8783638" cy="2155164"/>
          </a:xfrm>
          <a:prstGeom prst="roundRect">
            <a:avLst>
              <a:gd name="adj" fmla="val 4714"/>
            </a:avLst>
          </a:prstGeom>
          <a:solidFill>
            <a:srgbClr val="0F172A"/>
          </a:solidFill>
          <a:ln/>
        </p:spPr>
      </p:sp>
      <p:sp>
        <p:nvSpPr>
          <p:cNvPr id="14" name="Text 12"/>
          <p:cNvSpPr/>
          <p:nvPr/>
        </p:nvSpPr>
        <p:spPr>
          <a:xfrm>
            <a:off x="2798763" y="2049066"/>
            <a:ext cx="8628555"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Access</a:t>
            </a:r>
            <a:endParaRPr lang="en-US" sz="1300" dirty="0"/>
          </a:p>
        </p:txBody>
      </p:sp>
      <p:sp>
        <p:nvSpPr>
          <p:cNvPr id="15" name="Text 13"/>
          <p:cNvSpPr/>
          <p:nvPr/>
        </p:nvSpPr>
        <p:spPr>
          <a:xfrm>
            <a:off x="2798763" y="2369083"/>
            <a:ext cx="8628555" cy="1454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DE68A"/>
                </a:solidFill>
                <a:latin typeface="Courier New" pitchFamily="49" charset="0"/>
                <a:ea typeface="Courier New" pitchFamily="49" charset="-122"/>
                <a:cs typeface="Courier New" pitchFamily="49" charset="-120"/>
              </a:rPr>
              <a:t>arr = [[1,2,3],</a:t>
            </a:r>
            <a:endParaRPr lang="en-US" sz="1500" dirty="0"/>
          </a:p>
          <a:p>
            <a:pPr algn="l" indent="0" marL="0">
              <a:lnSpc>
                <a:spcPts val="2250"/>
              </a:lnSpc>
              <a:buNone/>
            </a:pPr>
            <a:r>
              <a:rPr lang="en-US" sz="1500" dirty="0">
                <a:solidFill>
                  <a:srgbClr val="FDE68A"/>
                </a:solidFill>
                <a:latin typeface="Courier New" pitchFamily="49" charset="0"/>
                <a:ea typeface="Courier New" pitchFamily="49" charset="-122"/>
                <a:cs typeface="Courier New" pitchFamily="49" charset="-120"/>
              </a:rPr>
              <a:t>       [4,5,6],</a:t>
            </a:r>
            <a:endParaRPr lang="en-US" sz="1500" dirty="0"/>
          </a:p>
          <a:p>
            <a:pPr algn="l" indent="0" marL="0">
              <a:lnSpc>
                <a:spcPts val="2250"/>
              </a:lnSpc>
              <a:buNone/>
            </a:pPr>
            <a:r>
              <a:rPr lang="en-US" sz="1500" dirty="0">
                <a:solidFill>
                  <a:srgbClr val="FDE68A"/>
                </a:solidFill>
                <a:latin typeface="Courier New" pitchFamily="49" charset="0"/>
                <a:ea typeface="Courier New" pitchFamily="49" charset="-122"/>
                <a:cs typeface="Courier New" pitchFamily="49" charset="-120"/>
              </a:rPr>
              <a:t>       [7,8,9]]</a:t>
            </a:r>
            <a:endParaRPr lang="en-US" sz="1500" dirty="0"/>
          </a:p>
          <a:p>
            <a:pPr algn="l" indent="0" marL="0">
              <a:lnSpc>
                <a:spcPts val="2250"/>
              </a:lnSpc>
              <a:buNone/>
            </a:pPr>
            <a:r>
              <a:rPr lang="en-US" sz="1500" dirty="0">
                <a:solidFill>
                  <a:srgbClr val="FDE68A"/>
                </a:solidFill>
                <a:latin typeface="Courier New" pitchFamily="49" charset="0"/>
                <a:ea typeface="Courier New" pitchFamily="49" charset="-122"/>
                <a:cs typeface="Courier New" pitchFamily="49" charset="-120"/>
              </a:rPr>
              <a:t>arr[0][0] # 1</a:t>
            </a:r>
            <a:endParaRPr lang="en-US" sz="1500" dirty="0"/>
          </a:p>
          <a:p>
            <a:pPr algn="l" indent="0" marL="0">
              <a:lnSpc>
                <a:spcPts val="2250"/>
              </a:lnSpc>
              <a:buNone/>
            </a:pPr>
            <a:r>
              <a:rPr lang="en-US" sz="1500" dirty="0">
                <a:solidFill>
                  <a:srgbClr val="FDE68A"/>
                </a:solidFill>
                <a:latin typeface="Courier New" pitchFamily="49" charset="0"/>
                <a:ea typeface="Courier New" pitchFamily="49" charset="-122"/>
                <a:cs typeface="Courier New" pitchFamily="49" charset="-120"/>
              </a:rPr>
              <a:t>arr[1][2] # 6 (yellow)</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Text 0"/>
          <p:cNvSpPr/>
          <p:nvPr>
            <p:ph type="title"/>
          </p:nvPr>
        </p:nvSpPr>
        <p:spPr>
          <a:xfrm>
            <a:off x="812800" y="698500"/>
            <a:ext cx="10883392" cy="500327"/>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0F172A"/>
                </a:solidFill>
                <a:latin typeface="Arial" pitchFamily="34" charset="0"/>
                <a:ea typeface="Arial" pitchFamily="34" charset="-122"/>
                <a:cs typeface="Arial" pitchFamily="34" charset="-120"/>
              </a:rPr>
              <a:t>Update, Add &amp; Slice</a:t>
            </a:r>
            <a:endParaRPr lang="en-US" sz="3400" dirty="0"/>
          </a:p>
        </p:txBody>
      </p:sp>
      <p:sp>
        <p:nvSpPr>
          <p:cNvPr id="3" name="Shape 1"/>
          <p:cNvSpPr/>
          <p:nvPr/>
        </p:nvSpPr>
        <p:spPr>
          <a:xfrm>
            <a:off x="812800" y="1363935"/>
            <a:ext cx="5181600" cy="1526514"/>
          </a:xfrm>
          <a:prstGeom prst="roundRect">
            <a:avLst>
              <a:gd name="adj" fmla="val 6656"/>
            </a:avLst>
          </a:prstGeom>
          <a:solidFill>
            <a:srgbClr val="0F172A"/>
          </a:solidFill>
          <a:ln/>
        </p:spPr>
      </p:sp>
      <p:sp>
        <p:nvSpPr>
          <p:cNvPr id="4" name="Text 2"/>
          <p:cNvSpPr/>
          <p:nvPr/>
        </p:nvSpPr>
        <p:spPr>
          <a:xfrm>
            <a:off x="1016000" y="1567135"/>
            <a:ext cx="491845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Update / Add</a:t>
            </a:r>
            <a:endParaRPr lang="en-US" sz="1300" dirty="0"/>
          </a:p>
        </p:txBody>
      </p:sp>
      <p:sp>
        <p:nvSpPr>
          <p:cNvPr id="5" name="Text 3"/>
          <p:cNvSpPr/>
          <p:nvPr/>
        </p:nvSpPr>
        <p:spPr>
          <a:xfrm>
            <a:off x="1016000" y="1887141"/>
            <a:ext cx="4918456"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DE68A"/>
                </a:solidFill>
                <a:latin typeface="Courier New" pitchFamily="49" charset="0"/>
                <a:ea typeface="Courier New" pitchFamily="49" charset="-122"/>
                <a:cs typeface="Courier New" pitchFamily="49" charset="-120"/>
              </a:rPr>
              <a:t>arr[1][1] = 50</a:t>
            </a:r>
            <a:endParaRPr lang="en-US" sz="1400" dirty="0"/>
          </a:p>
          <a:p>
            <a:pPr algn="l" indent="0" marL="0">
              <a:lnSpc>
                <a:spcPts val="2100"/>
              </a:lnSpc>
              <a:buNone/>
            </a:pPr>
            <a:r>
              <a:rPr lang="en-US" sz="1400" dirty="0">
                <a:solidFill>
                  <a:srgbClr val="FDE68A"/>
                </a:solidFill>
                <a:latin typeface="Courier New" pitchFamily="49" charset="0"/>
                <a:ea typeface="Courier New" pitchFamily="49" charset="-122"/>
                <a:cs typeface="Courier New" pitchFamily="49" charset="-120"/>
              </a:rPr>
              <a:t>arr.append([10, 11, 12]) # new row</a:t>
            </a:r>
            <a:endParaRPr lang="en-US" sz="1400" dirty="0"/>
          </a:p>
          <a:p>
            <a:pPr algn="l" indent="0" marL="0">
              <a:lnSpc>
                <a:spcPts val="2100"/>
              </a:lnSpc>
              <a:buNone/>
            </a:pPr>
            <a:r>
              <a:rPr lang="en-US" sz="1400" dirty="0">
                <a:solidFill>
                  <a:srgbClr val="FDE68A"/>
                </a:solidFill>
                <a:latin typeface="Courier New" pitchFamily="49" charset="0"/>
                <a:ea typeface="Courier New" pitchFamily="49" charset="-122"/>
                <a:cs typeface="Courier New" pitchFamily="49" charset="-120"/>
              </a:rPr>
              <a:t>arr[0].append(100) # row 0 grows</a:t>
            </a:r>
            <a:endParaRPr lang="en-US" sz="1400" dirty="0"/>
          </a:p>
        </p:txBody>
      </p:sp>
      <p:sp>
        <p:nvSpPr>
          <p:cNvPr id="6" name="Shape 4"/>
          <p:cNvSpPr/>
          <p:nvPr/>
        </p:nvSpPr>
        <p:spPr>
          <a:xfrm>
            <a:off x="6197600" y="1363935"/>
            <a:ext cx="5181600" cy="1526514"/>
          </a:xfrm>
          <a:prstGeom prst="roundRect">
            <a:avLst>
              <a:gd name="adj" fmla="val 6656"/>
            </a:avLst>
          </a:prstGeom>
          <a:solidFill>
            <a:srgbClr val="0F172A"/>
          </a:solidFill>
          <a:ln/>
        </p:spPr>
      </p:sp>
      <p:sp>
        <p:nvSpPr>
          <p:cNvPr id="7" name="Text 5"/>
          <p:cNvSpPr/>
          <p:nvPr/>
        </p:nvSpPr>
        <p:spPr>
          <a:xfrm>
            <a:off x="6400800" y="1567135"/>
            <a:ext cx="491845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Slice</a:t>
            </a:r>
            <a:endParaRPr lang="en-US" sz="1300" dirty="0"/>
          </a:p>
        </p:txBody>
      </p:sp>
      <p:sp>
        <p:nvSpPr>
          <p:cNvPr id="8" name="Text 6"/>
          <p:cNvSpPr/>
          <p:nvPr/>
        </p:nvSpPr>
        <p:spPr>
          <a:xfrm>
            <a:off x="6400800" y="1887141"/>
            <a:ext cx="4918456"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DE68A"/>
                </a:solidFill>
                <a:latin typeface="Courier New" pitchFamily="49" charset="0"/>
                <a:ea typeface="Courier New" pitchFamily="49" charset="-122"/>
                <a:cs typeface="Courier New" pitchFamily="49" charset="-120"/>
              </a:rPr>
              <a:t>arr[0:2] # first 2 rows</a:t>
            </a:r>
            <a:endParaRPr lang="en-US" sz="1400" dirty="0"/>
          </a:p>
          <a:p>
            <a:pPr algn="l" indent="0" marL="0">
              <a:lnSpc>
                <a:spcPts val="2100"/>
              </a:lnSpc>
              <a:buNone/>
            </a:pPr>
            <a:r>
              <a:rPr lang="en-US" sz="1400" dirty="0">
                <a:solidFill>
                  <a:srgbClr val="FDE68A"/>
                </a:solidFill>
                <a:latin typeface="Courier New" pitchFamily="49" charset="0"/>
                <a:ea typeface="Courier New" pitchFamily="49" charset="-122"/>
                <a:cs typeface="Courier New" pitchFamily="49" charset="-120"/>
              </a:rPr>
              <a:t>arr[0][1:3] # [2, 3]</a:t>
            </a:r>
            <a:endParaRPr lang="en-US" sz="1400" dirty="0"/>
          </a:p>
        </p:txBody>
      </p:sp>
      <p:sp>
        <p:nvSpPr>
          <p:cNvPr id="9" name="Text 7"/>
          <p:cNvSpPr/>
          <p:nvPr/>
        </p:nvSpPr>
        <p:spPr>
          <a:xfrm>
            <a:off x="812800" y="3080941"/>
            <a:ext cx="10883392" cy="299707"/>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75569"/>
                </a:solidFill>
                <a:latin typeface="Arial" pitchFamily="34" charset="0"/>
                <a:ea typeface="Arial" pitchFamily="34" charset="-122"/>
                <a:cs typeface="Arial" pitchFamily="34" charset="-120"/>
              </a:rPr>
              <a:t>Think: first index picks the </a:t>
            </a:r>
            <a:r>
              <a:rPr lang="en-US" sz="1600" b="1" dirty="0">
                <a:solidFill>
                  <a:srgbClr val="475569"/>
                </a:solidFill>
                <a:latin typeface="Arial" pitchFamily="34" charset="0"/>
                <a:ea typeface="Arial" pitchFamily="34" charset="-122"/>
                <a:cs typeface="Arial" pitchFamily="34" charset="-120"/>
              </a:rPr>
              <a:t>row</a:t>
            </a:r>
            <a:r>
              <a:rPr lang="en-US" sz="1600" dirty="0">
                <a:solidFill>
                  <a:srgbClr val="475569"/>
                </a:solidFill>
                <a:latin typeface="Arial" pitchFamily="34" charset="0"/>
                <a:ea typeface="Arial" pitchFamily="34" charset="-122"/>
                <a:cs typeface="Arial" pitchFamily="34" charset="-120"/>
              </a:rPr>
              <a:t>, second index picks the </a:t>
            </a:r>
            <a:r>
              <a:rPr lang="en-US" sz="1600" b="1" dirty="0">
                <a:solidFill>
                  <a:srgbClr val="475569"/>
                </a:solidFill>
                <a:latin typeface="Arial" pitchFamily="34" charset="0"/>
                <a:ea typeface="Arial" pitchFamily="34" charset="-122"/>
                <a:cs typeface="Arial" pitchFamily="34" charset="-120"/>
              </a:rPr>
              <a:t>column</a:t>
            </a:r>
            <a:r>
              <a:rPr lang="en-US" sz="1600" dirty="0">
                <a:solidFill>
                  <a:srgbClr val="475569"/>
                </a:solidFill>
                <a:latin typeface="Arial" pitchFamily="34" charset="0"/>
                <a:ea typeface="Arial" pitchFamily="34" charset="-122"/>
                <a:cs typeface="Arial" pitchFamily="34" charset="-120"/>
              </a:rPr>
              <a: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Text 0"/>
          <p:cNvSpPr/>
          <p:nvPr>
            <p:ph type="title"/>
          </p:nvPr>
        </p:nvSpPr>
        <p:spPr>
          <a:xfrm>
            <a:off x="812800" y="698500"/>
            <a:ext cx="10883392" cy="500327"/>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0F172A"/>
                </a:solidFill>
                <a:latin typeface="Arial" pitchFamily="34" charset="0"/>
                <a:ea typeface="Arial" pitchFamily="34" charset="-122"/>
                <a:cs typeface="Arial" pitchFamily="34" charset="-120"/>
              </a:rPr>
              <a:t>Loop through a Nested List</a:t>
            </a:r>
            <a:endParaRPr lang="en-US" sz="3400" dirty="0"/>
          </a:p>
        </p:txBody>
      </p:sp>
      <p:sp>
        <p:nvSpPr>
          <p:cNvPr id="3" name="Shape 1"/>
          <p:cNvSpPr/>
          <p:nvPr/>
        </p:nvSpPr>
        <p:spPr>
          <a:xfrm>
            <a:off x="812800" y="1363935"/>
            <a:ext cx="5181600" cy="1640814"/>
          </a:xfrm>
          <a:prstGeom prst="roundRect">
            <a:avLst>
              <a:gd name="adj" fmla="val 6192"/>
            </a:avLst>
          </a:prstGeom>
          <a:solidFill>
            <a:srgbClr val="0F172A"/>
          </a:solidFill>
          <a:ln/>
        </p:spPr>
      </p:sp>
      <p:sp>
        <p:nvSpPr>
          <p:cNvPr id="4" name="Text 2"/>
          <p:cNvSpPr/>
          <p:nvPr/>
        </p:nvSpPr>
        <p:spPr>
          <a:xfrm>
            <a:off x="1016000" y="1567135"/>
            <a:ext cx="491845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Nested loops</a:t>
            </a:r>
            <a:endParaRPr lang="en-US" sz="1300" dirty="0"/>
          </a:p>
        </p:txBody>
      </p:sp>
      <p:sp>
        <p:nvSpPr>
          <p:cNvPr id="5" name="Text 3"/>
          <p:cNvSpPr/>
          <p:nvPr/>
        </p:nvSpPr>
        <p:spPr>
          <a:xfrm>
            <a:off x="1016000" y="1887141"/>
            <a:ext cx="4918456" cy="9398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DE68A"/>
                </a:solidFill>
                <a:latin typeface="Courier New" pitchFamily="49" charset="0"/>
                <a:ea typeface="Courier New" pitchFamily="49" charset="-122"/>
                <a:cs typeface="Courier New" pitchFamily="49" charset="-120"/>
              </a:rPr>
              <a:t>for row in arr:</a:t>
            </a:r>
            <a:endParaRPr lang="en-US" sz="1600" dirty="0"/>
          </a:p>
          <a:p>
            <a:pPr algn="l" indent="0" marL="0">
              <a:lnSpc>
                <a:spcPts val="2400"/>
              </a:lnSpc>
              <a:buNone/>
            </a:pPr>
            <a:r>
              <a:rPr lang="en-US" sz="1600" dirty="0">
                <a:solidFill>
                  <a:srgbClr val="FDE68A"/>
                </a:solidFill>
                <a:latin typeface="Courier New" pitchFamily="49" charset="0"/>
                <a:ea typeface="Courier New" pitchFamily="49" charset="-122"/>
                <a:cs typeface="Courier New" pitchFamily="49" charset="-120"/>
              </a:rPr>
              <a:t>    for x in row:</a:t>
            </a:r>
            <a:endParaRPr lang="en-US" sz="1600" dirty="0"/>
          </a:p>
          <a:p>
            <a:pPr algn="l" indent="0" marL="0">
              <a:lnSpc>
                <a:spcPts val="2400"/>
              </a:lnSpc>
              <a:buNone/>
            </a:pPr>
            <a:r>
              <a:rPr lang="en-US" sz="1600" dirty="0">
                <a:solidFill>
                  <a:srgbClr val="FDE68A"/>
                </a:solidFill>
                <a:latin typeface="Courier New" pitchFamily="49" charset="0"/>
                <a:ea typeface="Courier New" pitchFamily="49" charset="-122"/>
                <a:cs typeface="Courier New" pitchFamily="49" charset="-120"/>
              </a:rPr>
              <a:t>        print(x)</a:t>
            </a:r>
            <a:endParaRPr lang="en-US" sz="1600" dirty="0"/>
          </a:p>
        </p:txBody>
      </p:sp>
      <p:sp>
        <p:nvSpPr>
          <p:cNvPr id="6" name="Shape 4"/>
          <p:cNvSpPr/>
          <p:nvPr/>
        </p:nvSpPr>
        <p:spPr>
          <a:xfrm>
            <a:off x="6197600" y="1363935"/>
            <a:ext cx="5181600" cy="1640814"/>
          </a:xfrm>
          <a:prstGeom prst="roundRect">
            <a:avLst>
              <a:gd name="adj" fmla="val 6192"/>
            </a:avLst>
          </a:prstGeom>
          <a:solidFill>
            <a:srgbClr val="0F172A"/>
          </a:solidFill>
          <a:ln/>
        </p:spPr>
      </p:sp>
      <p:sp>
        <p:nvSpPr>
          <p:cNvPr id="7" name="Text 5"/>
          <p:cNvSpPr/>
          <p:nvPr/>
        </p:nvSpPr>
        <p:spPr>
          <a:xfrm>
            <a:off x="6400800" y="1567135"/>
            <a:ext cx="491845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Using indexes</a:t>
            </a:r>
            <a:endParaRPr lang="en-US" sz="1300" dirty="0"/>
          </a:p>
        </p:txBody>
      </p:sp>
      <p:sp>
        <p:nvSpPr>
          <p:cNvPr id="8" name="Text 6"/>
          <p:cNvSpPr/>
          <p:nvPr/>
        </p:nvSpPr>
        <p:spPr>
          <a:xfrm>
            <a:off x="6400800" y="1887141"/>
            <a:ext cx="4918456"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DE68A"/>
                </a:solidFill>
                <a:latin typeface="Courier New" pitchFamily="49" charset="0"/>
                <a:ea typeface="Courier New" pitchFamily="49" charset="-122"/>
                <a:cs typeface="Courier New" pitchFamily="49" charset="-120"/>
              </a:rPr>
              <a:t>for i in range(len(arr)):</a:t>
            </a:r>
            <a:endParaRPr lang="en-US" sz="1400" dirty="0"/>
          </a:p>
          <a:p>
            <a:pPr algn="l" indent="0" marL="0">
              <a:lnSpc>
                <a:spcPts val="2100"/>
              </a:lnSpc>
              <a:buNone/>
            </a:pPr>
            <a:r>
              <a:rPr lang="en-US" sz="1400" dirty="0">
                <a:solidFill>
                  <a:srgbClr val="FDE68A"/>
                </a:solidFill>
                <a:latin typeface="Courier New" pitchFamily="49" charset="0"/>
                <a:ea typeface="Courier New" pitchFamily="49" charset="-122"/>
                <a:cs typeface="Courier New" pitchFamily="49" charset="-120"/>
              </a:rPr>
              <a:t>    for j in range(len(arr[i])):</a:t>
            </a:r>
            <a:endParaRPr lang="en-US" sz="1400" dirty="0"/>
          </a:p>
          <a:p>
            <a:pPr algn="l" indent="0" marL="0">
              <a:lnSpc>
                <a:spcPts val="2100"/>
              </a:lnSpc>
              <a:buNone/>
            </a:pPr>
            <a:r>
              <a:rPr lang="en-US" sz="1400" dirty="0">
                <a:solidFill>
                  <a:srgbClr val="FDE68A"/>
                </a:solidFill>
                <a:latin typeface="Courier New" pitchFamily="49" charset="0"/>
                <a:ea typeface="Courier New" pitchFamily="49" charset="-122"/>
                <a:cs typeface="Courier New" pitchFamily="49" charset="-120"/>
              </a:rPr>
              <a:t>        print(arr[i][j])</a:t>
            </a:r>
            <a:endParaRPr lang="en-US" sz="1400" dirty="0"/>
          </a:p>
        </p:txBody>
      </p:sp>
      <p:sp>
        <p:nvSpPr>
          <p:cNvPr id="9" name="Text 7"/>
          <p:cNvSpPr/>
          <p:nvPr/>
        </p:nvSpPr>
        <p:spPr>
          <a:xfrm>
            <a:off x="812800" y="3195241"/>
            <a:ext cx="10883392" cy="299707"/>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75569"/>
                </a:solidFill>
                <a:latin typeface="Arial" pitchFamily="34" charset="0"/>
                <a:ea typeface="Arial" pitchFamily="34" charset="-122"/>
                <a:cs typeface="Arial" pitchFamily="34" charset="-120"/>
              </a:rPr>
              <a:t>i = row index, j = column index. Output: 1 2 3 4 5 6 7 8 9</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Text 0"/>
          <p:cNvSpPr/>
          <p:nvPr>
            <p:ph type="title"/>
          </p:nvPr>
        </p:nvSpPr>
        <p:spPr>
          <a:xfrm>
            <a:off x="812800" y="698500"/>
            <a:ext cx="10883392" cy="500327"/>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0F172A"/>
                </a:solidFill>
                <a:latin typeface="Arial" pitchFamily="34" charset="0"/>
                <a:ea typeface="Arial" pitchFamily="34" charset="-122"/>
                <a:cs typeface="Arial" pitchFamily="34" charset="-120"/>
              </a:rPr>
              <a:t>Sum &amp; Flatten</a:t>
            </a:r>
            <a:endParaRPr lang="en-US" sz="3400" dirty="0"/>
          </a:p>
        </p:txBody>
      </p:sp>
      <p:sp>
        <p:nvSpPr>
          <p:cNvPr id="3" name="Shape 1"/>
          <p:cNvSpPr/>
          <p:nvPr/>
        </p:nvSpPr>
        <p:spPr>
          <a:xfrm>
            <a:off x="812800" y="1363935"/>
            <a:ext cx="5181600" cy="2155164"/>
          </a:xfrm>
          <a:prstGeom prst="roundRect">
            <a:avLst>
              <a:gd name="adj" fmla="val 4714"/>
            </a:avLst>
          </a:prstGeom>
          <a:solidFill>
            <a:srgbClr val="0F172A"/>
          </a:solidFill>
          <a:ln/>
        </p:spPr>
      </p:sp>
      <p:sp>
        <p:nvSpPr>
          <p:cNvPr id="4" name="Text 2"/>
          <p:cNvSpPr/>
          <p:nvPr/>
        </p:nvSpPr>
        <p:spPr>
          <a:xfrm>
            <a:off x="1016000" y="1567135"/>
            <a:ext cx="491845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Sum of all elements</a:t>
            </a:r>
            <a:endParaRPr lang="en-US" sz="1300" dirty="0"/>
          </a:p>
        </p:txBody>
      </p:sp>
      <p:sp>
        <p:nvSpPr>
          <p:cNvPr id="5" name="Text 3"/>
          <p:cNvSpPr/>
          <p:nvPr/>
        </p:nvSpPr>
        <p:spPr>
          <a:xfrm>
            <a:off x="1016000" y="1887141"/>
            <a:ext cx="4918456" cy="1454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DE68A"/>
                </a:solidFill>
                <a:latin typeface="Courier New" pitchFamily="49" charset="0"/>
                <a:ea typeface="Courier New" pitchFamily="49" charset="-122"/>
                <a:cs typeface="Courier New" pitchFamily="49" charset="-120"/>
              </a:rPr>
              <a:t>total = 0</a:t>
            </a:r>
            <a:endParaRPr lang="en-US" sz="1500" dirty="0"/>
          </a:p>
          <a:p>
            <a:pPr algn="l" indent="0" marL="0">
              <a:lnSpc>
                <a:spcPts val="2250"/>
              </a:lnSpc>
              <a:buNone/>
            </a:pPr>
            <a:r>
              <a:rPr lang="en-US" sz="1500" dirty="0">
                <a:solidFill>
                  <a:srgbClr val="FDE68A"/>
                </a:solidFill>
                <a:latin typeface="Courier New" pitchFamily="49" charset="0"/>
                <a:ea typeface="Courier New" pitchFamily="49" charset="-122"/>
                <a:cs typeface="Courier New" pitchFamily="49" charset="-120"/>
              </a:rPr>
              <a:t>for row in arr:</a:t>
            </a:r>
            <a:endParaRPr lang="en-US" sz="1500" dirty="0"/>
          </a:p>
          <a:p>
            <a:pPr algn="l" indent="0" marL="0">
              <a:lnSpc>
                <a:spcPts val="2250"/>
              </a:lnSpc>
              <a:buNone/>
            </a:pPr>
            <a:r>
              <a:rPr lang="en-US" sz="1500" dirty="0">
                <a:solidFill>
                  <a:srgbClr val="FDE68A"/>
                </a:solidFill>
                <a:latin typeface="Courier New" pitchFamily="49" charset="0"/>
                <a:ea typeface="Courier New" pitchFamily="49" charset="-122"/>
                <a:cs typeface="Courier New" pitchFamily="49" charset="-120"/>
              </a:rPr>
              <a:t>    for x in row:</a:t>
            </a:r>
            <a:endParaRPr lang="en-US" sz="1500" dirty="0"/>
          </a:p>
          <a:p>
            <a:pPr algn="l" indent="0" marL="0">
              <a:lnSpc>
                <a:spcPts val="2250"/>
              </a:lnSpc>
              <a:buNone/>
            </a:pPr>
            <a:r>
              <a:rPr lang="en-US" sz="1500" dirty="0">
                <a:solidFill>
                  <a:srgbClr val="FDE68A"/>
                </a:solidFill>
                <a:latin typeface="Courier New" pitchFamily="49" charset="0"/>
                <a:ea typeface="Courier New" pitchFamily="49" charset="-122"/>
                <a:cs typeface="Courier New" pitchFamily="49" charset="-120"/>
              </a:rPr>
              <a:t>        total += x</a:t>
            </a:r>
            <a:endParaRPr lang="en-US" sz="1500" dirty="0"/>
          </a:p>
          <a:p>
            <a:pPr algn="l" indent="0" marL="0">
              <a:lnSpc>
                <a:spcPts val="2250"/>
              </a:lnSpc>
              <a:buNone/>
            </a:pPr>
            <a:r>
              <a:rPr lang="en-US" sz="1500" dirty="0">
                <a:solidFill>
                  <a:srgbClr val="FDE68A"/>
                </a:solidFill>
                <a:latin typeface="Courier New" pitchFamily="49" charset="0"/>
                <a:ea typeface="Courier New" pitchFamily="49" charset="-122"/>
                <a:cs typeface="Courier New" pitchFamily="49" charset="-120"/>
              </a:rPr>
              <a:t>print(total) # 45</a:t>
            </a:r>
            <a:endParaRPr lang="en-US" sz="1500" dirty="0"/>
          </a:p>
        </p:txBody>
      </p:sp>
      <p:sp>
        <p:nvSpPr>
          <p:cNvPr id="6" name="Shape 4"/>
          <p:cNvSpPr/>
          <p:nvPr/>
        </p:nvSpPr>
        <p:spPr>
          <a:xfrm>
            <a:off x="6197600" y="1363935"/>
            <a:ext cx="5181600" cy="2155164"/>
          </a:xfrm>
          <a:prstGeom prst="roundRect">
            <a:avLst>
              <a:gd name="adj" fmla="val 4714"/>
            </a:avLst>
          </a:prstGeom>
          <a:solidFill>
            <a:srgbClr val="0F172A"/>
          </a:solidFill>
          <a:ln/>
        </p:spPr>
      </p:sp>
      <p:sp>
        <p:nvSpPr>
          <p:cNvPr id="7" name="Text 5"/>
          <p:cNvSpPr/>
          <p:nvPr/>
        </p:nvSpPr>
        <p:spPr>
          <a:xfrm>
            <a:off x="6400800" y="1567135"/>
            <a:ext cx="491845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Flatten &amp; matrix</a:t>
            </a:r>
            <a:endParaRPr lang="en-US" sz="1300" dirty="0"/>
          </a:p>
        </p:txBody>
      </p:sp>
      <p:sp>
        <p:nvSpPr>
          <p:cNvPr id="8" name="Text 6"/>
          <p:cNvSpPr/>
          <p:nvPr/>
        </p:nvSpPr>
        <p:spPr>
          <a:xfrm>
            <a:off x="6400800" y="1887141"/>
            <a:ext cx="4918456" cy="13589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DE68A"/>
                </a:solidFill>
                <a:latin typeface="Courier New" pitchFamily="49" charset="0"/>
                <a:ea typeface="Courier New" pitchFamily="49" charset="-122"/>
                <a:cs typeface="Courier New" pitchFamily="49" charset="-120"/>
              </a:rPr>
              <a:t>[x for row in arr for x in row]</a:t>
            </a:r>
            <a:endParaRPr lang="en-US" sz="1400" dirty="0"/>
          </a:p>
          <a:p>
            <a:pPr algn="l" indent="0" marL="0">
              <a:lnSpc>
                <a:spcPts val="2100"/>
              </a:lnSpc>
              <a:buNone/>
            </a:pPr>
            <a:r>
              <a:rPr lang="en-US" sz="1400" dirty="0">
                <a:solidFill>
                  <a:srgbClr val="FDE68A"/>
                </a:solidFill>
                <a:latin typeface="Courier New" pitchFamily="49" charset="0"/>
                <a:ea typeface="Courier New" pitchFamily="49" charset="-122"/>
                <a:cs typeface="Courier New" pitchFamily="49" charset="-120"/>
              </a:rPr>
              <a:t># [1,2,3,4,5,6,7,8,9]</a:t>
            </a:r>
            <a:endParaRPr lang="en-US" sz="1400" dirty="0"/>
          </a:p>
          <a:p>
            <a:pPr algn="l" indent="0" marL="0">
              <a:lnSpc>
                <a:spcPts val="2100"/>
              </a:lnSpc>
              <a:buNone/>
            </a:pPr>
            <a:r>
              <a:rPr lang="en-US" sz="1400" dirty="0">
                <a:solidFill>
                  <a:srgbClr val="FDE68A"/>
                </a:solidFill>
                <a:latin typeface="Courier New" pitchFamily="49" charset="0"/>
                <a:ea typeface="Courier New" pitchFamily="49" charset="-122"/>
                <a:cs typeface="Courier New" pitchFamily="49" charset="-120"/>
              </a:rPr>
              <a:t>[[0 for j in range(3)]</a:t>
            </a:r>
            <a:endParaRPr lang="en-US" sz="1400" dirty="0"/>
          </a:p>
          <a:p>
            <a:pPr algn="l" indent="0" marL="0">
              <a:lnSpc>
                <a:spcPts val="2100"/>
              </a:lnSpc>
              <a:buNone/>
            </a:pPr>
            <a:r>
              <a:rPr lang="en-US" sz="1400" dirty="0">
                <a:solidFill>
                  <a:srgbClr val="FDE68A"/>
                </a:solidFill>
                <a:latin typeface="Courier New" pitchFamily="49" charset="0"/>
                <a:ea typeface="Courier New" pitchFamily="49" charset="-122"/>
                <a:cs typeface="Courier New" pitchFamily="49" charset="-120"/>
              </a:rPr>
              <a:t>  for i in range(3)]</a:t>
            </a:r>
            <a:endParaRPr lang="en-US" sz="1400" dirty="0"/>
          </a:p>
          <a:p>
            <a:pPr algn="l" indent="0" marL="0">
              <a:lnSpc>
                <a:spcPts val="2100"/>
              </a:lnSpc>
              <a:buNone/>
            </a:pPr>
            <a:r>
              <a:rPr lang="en-US" sz="1400" dirty="0">
                <a:solidFill>
                  <a:srgbClr val="FDE68A"/>
                </a:solidFill>
                <a:latin typeface="Courier New" pitchFamily="49" charset="0"/>
                <a:ea typeface="Courier New" pitchFamily="49" charset="-122"/>
                <a:cs typeface="Courier New" pitchFamily="49" charset="-120"/>
              </a:rPr>
              <a:t># 3x3 matrix of zeros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Text 0"/>
          <p:cNvSpPr/>
          <p:nvPr>
            <p:ph type="title"/>
          </p:nvPr>
        </p:nvSpPr>
        <p:spPr>
          <a:xfrm>
            <a:off x="812800" y="698500"/>
            <a:ext cx="10883392" cy="500327"/>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0F172A"/>
                </a:solidFill>
                <a:latin typeface="Arial" pitchFamily="34" charset="0"/>
                <a:ea typeface="Arial" pitchFamily="34" charset="-122"/>
                <a:cs typeface="Arial" pitchFamily="34" charset="-120"/>
              </a:rPr>
              <a:t>List Comprehension</a:t>
            </a:r>
            <a:endParaRPr lang="en-US" sz="3400" dirty="0"/>
          </a:p>
        </p:txBody>
      </p:sp>
      <p:sp>
        <p:nvSpPr>
          <p:cNvPr id="3" name="Text 1"/>
          <p:cNvSpPr/>
          <p:nvPr/>
        </p:nvSpPr>
        <p:spPr>
          <a:xfrm>
            <a:off x="812800" y="1363935"/>
            <a:ext cx="10883392"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0F172A"/>
                </a:solidFill>
                <a:latin typeface="Arial" pitchFamily="34" charset="0"/>
                <a:ea typeface="Arial" pitchFamily="34" charset="-122"/>
                <a:cs typeface="Arial" pitchFamily="34" charset="-120"/>
              </a:rPr>
              <a:t>A </a:t>
            </a:r>
            <a:r>
              <a:rPr lang="en-US" sz="1800" b="1" dirty="0">
                <a:solidFill>
                  <a:srgbClr val="0F172A"/>
                </a:solidFill>
                <a:latin typeface="Arial" pitchFamily="34" charset="0"/>
                <a:ea typeface="Arial" pitchFamily="34" charset="-122"/>
                <a:cs typeface="Arial" pitchFamily="34" charset="-120"/>
              </a:rPr>
              <a:t>short way</a:t>
            </a:r>
            <a:r>
              <a:rPr lang="en-US" sz="1800" dirty="0">
                <a:solidFill>
                  <a:srgbClr val="0F172A"/>
                </a:solidFill>
                <a:latin typeface="Arial" pitchFamily="34" charset="0"/>
                <a:ea typeface="Arial" pitchFamily="34" charset="-122"/>
                <a:cs typeface="Arial" pitchFamily="34" charset="-120"/>
              </a:rPr>
              <a:t> to create a new list in one line.</a:t>
            </a:r>
            <a:endParaRPr lang="en-US" sz="1800" dirty="0"/>
          </a:p>
        </p:txBody>
      </p:sp>
      <p:sp>
        <p:nvSpPr>
          <p:cNvPr id="4" name="Shape 2"/>
          <p:cNvSpPr/>
          <p:nvPr/>
        </p:nvSpPr>
        <p:spPr>
          <a:xfrm>
            <a:off x="812800" y="1863006"/>
            <a:ext cx="5181600" cy="1583664"/>
          </a:xfrm>
          <a:prstGeom prst="roundRect">
            <a:avLst>
              <a:gd name="adj" fmla="val 6416"/>
            </a:avLst>
          </a:prstGeom>
          <a:solidFill>
            <a:srgbClr val="0F172A"/>
          </a:solidFill>
          <a:ln/>
        </p:spPr>
      </p:sp>
      <p:sp>
        <p:nvSpPr>
          <p:cNvPr id="5" name="Text 3"/>
          <p:cNvSpPr/>
          <p:nvPr/>
        </p:nvSpPr>
        <p:spPr>
          <a:xfrm>
            <a:off x="1016000" y="2066206"/>
            <a:ext cx="491845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Normal loop</a:t>
            </a:r>
            <a:endParaRPr lang="en-US" sz="1300" dirty="0"/>
          </a:p>
        </p:txBody>
      </p:sp>
      <p:sp>
        <p:nvSpPr>
          <p:cNvPr id="6" name="Text 4"/>
          <p:cNvSpPr/>
          <p:nvPr/>
        </p:nvSpPr>
        <p:spPr>
          <a:xfrm>
            <a:off x="1016000" y="2386211"/>
            <a:ext cx="4918456"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DE68A"/>
                </a:solidFill>
                <a:latin typeface="Courier New" pitchFamily="49" charset="0"/>
                <a:ea typeface="Courier New" pitchFamily="49" charset="-122"/>
                <a:cs typeface="Courier New" pitchFamily="49" charset="-120"/>
              </a:rPr>
              <a:t>result = []</a:t>
            </a:r>
            <a:endParaRPr lang="en-US" sz="1500" dirty="0"/>
          </a:p>
          <a:p>
            <a:pPr algn="l" indent="0" marL="0">
              <a:lnSpc>
                <a:spcPts val="2250"/>
              </a:lnSpc>
              <a:buNone/>
            </a:pPr>
            <a:r>
              <a:rPr lang="en-US" sz="1500" dirty="0">
                <a:solidFill>
                  <a:srgbClr val="FDE68A"/>
                </a:solidFill>
                <a:latin typeface="Courier New" pitchFamily="49" charset="0"/>
                <a:ea typeface="Courier New" pitchFamily="49" charset="-122"/>
                <a:cs typeface="Courier New" pitchFamily="49" charset="-120"/>
              </a:rPr>
              <a:t>for x in arr:</a:t>
            </a:r>
            <a:endParaRPr lang="en-US" sz="1500" dirty="0"/>
          </a:p>
          <a:p>
            <a:pPr algn="l" indent="0" marL="0">
              <a:lnSpc>
                <a:spcPts val="2250"/>
              </a:lnSpc>
              <a:buNone/>
            </a:pPr>
            <a:r>
              <a:rPr lang="en-US" sz="1500" dirty="0">
                <a:solidFill>
                  <a:srgbClr val="FDE68A"/>
                </a:solidFill>
                <a:latin typeface="Courier New" pitchFamily="49" charset="0"/>
                <a:ea typeface="Courier New" pitchFamily="49" charset="-122"/>
                <a:cs typeface="Courier New" pitchFamily="49" charset="-120"/>
              </a:rPr>
              <a:t>    result.append(x * 2)</a:t>
            </a:r>
            <a:endParaRPr lang="en-US" sz="1500" dirty="0"/>
          </a:p>
        </p:txBody>
      </p:sp>
      <p:sp>
        <p:nvSpPr>
          <p:cNvPr id="7" name="Shape 5"/>
          <p:cNvSpPr/>
          <p:nvPr/>
        </p:nvSpPr>
        <p:spPr>
          <a:xfrm>
            <a:off x="6197600" y="1863006"/>
            <a:ext cx="5181600" cy="1583664"/>
          </a:xfrm>
          <a:prstGeom prst="roundRect">
            <a:avLst>
              <a:gd name="adj" fmla="val 6416"/>
            </a:avLst>
          </a:prstGeom>
          <a:solidFill>
            <a:srgbClr val="0F172A"/>
          </a:solidFill>
          <a:ln/>
        </p:spPr>
      </p:sp>
      <p:sp>
        <p:nvSpPr>
          <p:cNvPr id="8" name="Text 6"/>
          <p:cNvSpPr/>
          <p:nvPr/>
        </p:nvSpPr>
        <p:spPr>
          <a:xfrm>
            <a:off x="6400800" y="2066206"/>
            <a:ext cx="491845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List comprehension</a:t>
            </a:r>
            <a:endParaRPr lang="en-US" sz="1300" dirty="0"/>
          </a:p>
        </p:txBody>
      </p:sp>
      <p:sp>
        <p:nvSpPr>
          <p:cNvPr id="9" name="Text 7"/>
          <p:cNvSpPr/>
          <p:nvPr/>
        </p:nvSpPr>
        <p:spPr>
          <a:xfrm>
            <a:off x="6400800" y="2386211"/>
            <a:ext cx="4918456"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DE68A"/>
                </a:solidFill>
                <a:latin typeface="Courier New" pitchFamily="49" charset="0"/>
                <a:ea typeface="Courier New" pitchFamily="49" charset="-122"/>
                <a:cs typeface="Courier New" pitchFamily="49" charset="-120"/>
              </a:rPr>
              <a:t>result = [x * 2 for x in arr]</a:t>
            </a:r>
            <a:endParaRPr lang="en-US" sz="1500" dirty="0"/>
          </a:p>
          <a:p>
            <a:pPr algn="l" indent="0" marL="0">
              <a:lnSpc>
                <a:spcPts val="2250"/>
              </a:lnSpc>
              <a:buNone/>
            </a:pPr>
            <a:r>
              <a:rPr lang="en-US" sz="1500" dirty="0">
                <a:solidFill>
                  <a:srgbClr val="FDE68A"/>
                </a:solidFill>
                <a:latin typeface="Courier New" pitchFamily="49" charset="0"/>
                <a:ea typeface="Courier New" pitchFamily="49" charset="-122"/>
                <a:cs typeface="Courier New" pitchFamily="49" charset="-120"/>
              </a:rPr>
              <a:t># arr = [1,2,3,4,5]</a:t>
            </a:r>
            <a:endParaRPr lang="en-US" sz="1500" dirty="0"/>
          </a:p>
          <a:p>
            <a:pPr algn="l" indent="0" marL="0">
              <a:lnSpc>
                <a:spcPts val="2250"/>
              </a:lnSpc>
              <a:buNone/>
            </a:pPr>
            <a:r>
              <a:rPr lang="en-US" sz="1500" dirty="0">
                <a:solidFill>
                  <a:srgbClr val="FDE68A"/>
                </a:solidFill>
                <a:latin typeface="Courier New" pitchFamily="49" charset="0"/>
                <a:ea typeface="Courier New" pitchFamily="49" charset="-122"/>
                <a:cs typeface="Courier New" pitchFamily="49" charset="-120"/>
              </a:rPr>
              <a:t># [2, 4, 6, 8, 10]</a:t>
            </a:r>
            <a:endParaRPr lang="en-US" sz="1500" dirty="0"/>
          </a:p>
        </p:txBody>
      </p:sp>
      <p:sp>
        <p:nvSpPr>
          <p:cNvPr id="10" name="Text 8"/>
          <p:cNvSpPr/>
          <p:nvPr/>
        </p:nvSpPr>
        <p:spPr>
          <a:xfrm>
            <a:off x="812800" y="3637161"/>
            <a:ext cx="10883392" cy="316839"/>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3776AB"/>
                </a:solidFill>
                <a:latin typeface="Arial" pitchFamily="34" charset="0"/>
                <a:ea typeface="Arial" pitchFamily="34" charset="-122"/>
                <a:cs typeface="Arial" pitchFamily="34" charset="-120"/>
              </a:rPr>
              <a:t>Syntax: </a:t>
            </a:r>
            <a:r>
              <a:rPr lang="en-US" sz="1700" b="1" dirty="0">
                <a:solidFill>
                  <a:srgbClr val="3776AB"/>
                </a:solidFill>
                <a:latin typeface="Arial" pitchFamily="34" charset="0"/>
                <a:ea typeface="Arial" pitchFamily="34" charset="-122"/>
                <a:cs typeface="Arial" pitchFamily="34" charset="-120"/>
              </a:rPr>
              <a:t>[expression for item in iterable]</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Text 0"/>
          <p:cNvSpPr/>
          <p:nvPr>
            <p:ph type="title"/>
          </p:nvPr>
        </p:nvSpPr>
        <p:spPr>
          <a:xfrm>
            <a:off x="812800" y="698500"/>
            <a:ext cx="10883392" cy="500327"/>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0F172A"/>
                </a:solidFill>
                <a:latin typeface="Arial" pitchFamily="34" charset="0"/>
                <a:ea typeface="Arial" pitchFamily="34" charset="-122"/>
                <a:cs typeface="Arial" pitchFamily="34" charset="-120"/>
              </a:rPr>
              <a:t>With a Condition</a:t>
            </a:r>
            <a:endParaRPr lang="en-US" sz="3400" dirty="0"/>
          </a:p>
        </p:txBody>
      </p:sp>
      <p:sp>
        <p:nvSpPr>
          <p:cNvPr id="3" name="Text 1"/>
          <p:cNvSpPr/>
          <p:nvPr/>
        </p:nvSpPr>
        <p:spPr>
          <a:xfrm>
            <a:off x="812800" y="1363935"/>
            <a:ext cx="10883392" cy="299707"/>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776AB"/>
                </a:solidFill>
                <a:latin typeface="Arial" pitchFamily="34" charset="0"/>
                <a:ea typeface="Arial" pitchFamily="34" charset="-122"/>
                <a:cs typeface="Arial" pitchFamily="34" charset="-120"/>
              </a:rPr>
              <a:t>Syntax: </a:t>
            </a:r>
            <a:r>
              <a:rPr lang="en-US" sz="1600" b="1" dirty="0">
                <a:solidFill>
                  <a:srgbClr val="3776AB"/>
                </a:solidFill>
                <a:latin typeface="Arial" pitchFamily="34" charset="0"/>
                <a:ea typeface="Arial" pitchFamily="34" charset="-122"/>
                <a:cs typeface="Arial" pitchFamily="34" charset="-120"/>
              </a:rPr>
              <a:t>[expression for item in list if condition]</a:t>
            </a:r>
            <a:endParaRPr lang="en-US" sz="1600" dirty="0"/>
          </a:p>
        </p:txBody>
      </p:sp>
      <p:sp>
        <p:nvSpPr>
          <p:cNvPr id="4" name="Shape 2"/>
          <p:cNvSpPr/>
          <p:nvPr/>
        </p:nvSpPr>
        <p:spPr>
          <a:xfrm>
            <a:off x="812800" y="1828738"/>
            <a:ext cx="5181600" cy="1221714"/>
          </a:xfrm>
          <a:prstGeom prst="roundRect">
            <a:avLst>
              <a:gd name="adj" fmla="val 8316"/>
            </a:avLst>
          </a:prstGeom>
          <a:solidFill>
            <a:srgbClr val="0F172A"/>
          </a:solidFill>
          <a:ln/>
        </p:spPr>
      </p:sp>
      <p:sp>
        <p:nvSpPr>
          <p:cNvPr id="5" name="Text 3"/>
          <p:cNvSpPr/>
          <p:nvPr/>
        </p:nvSpPr>
        <p:spPr>
          <a:xfrm>
            <a:off x="1016000" y="2031938"/>
            <a:ext cx="491845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Even numbers</a:t>
            </a:r>
            <a:endParaRPr lang="en-US" sz="1300" dirty="0"/>
          </a:p>
        </p:txBody>
      </p:sp>
      <p:sp>
        <p:nvSpPr>
          <p:cNvPr id="6" name="Text 4"/>
          <p:cNvSpPr/>
          <p:nvPr/>
        </p:nvSpPr>
        <p:spPr>
          <a:xfrm>
            <a:off x="1016000" y="2351956"/>
            <a:ext cx="491845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FDE68A"/>
                </a:solidFill>
                <a:latin typeface="Courier New" pitchFamily="49" charset="0"/>
                <a:ea typeface="Courier New" pitchFamily="49" charset="-122"/>
                <a:cs typeface="Courier New" pitchFamily="49" charset="-120"/>
              </a:rPr>
              <a:t>[x for x in arr if x % 2 == 0]</a:t>
            </a:r>
            <a:endParaRPr lang="en-US" sz="1300" dirty="0"/>
          </a:p>
          <a:p>
            <a:pPr algn="l" indent="0" marL="0">
              <a:lnSpc>
                <a:spcPts val="1950"/>
              </a:lnSpc>
              <a:buNone/>
            </a:pPr>
            <a:r>
              <a:rPr lang="en-US" sz="1300" dirty="0">
                <a:solidFill>
                  <a:srgbClr val="FDE68A"/>
                </a:solidFill>
                <a:latin typeface="Courier New" pitchFamily="49" charset="0"/>
                <a:ea typeface="Courier New" pitchFamily="49" charset="-122"/>
                <a:cs typeface="Courier New" pitchFamily="49" charset="-120"/>
              </a:rPr>
              <a:t># arr=[1..6] gives [2, 4, 6]</a:t>
            </a:r>
            <a:endParaRPr lang="en-US" sz="1300" dirty="0"/>
          </a:p>
        </p:txBody>
      </p:sp>
      <p:sp>
        <p:nvSpPr>
          <p:cNvPr id="7" name="Shape 5"/>
          <p:cNvSpPr/>
          <p:nvPr/>
        </p:nvSpPr>
        <p:spPr>
          <a:xfrm>
            <a:off x="6197600" y="1828738"/>
            <a:ext cx="5181600" cy="1221714"/>
          </a:xfrm>
          <a:prstGeom prst="roundRect">
            <a:avLst>
              <a:gd name="adj" fmla="val 8316"/>
            </a:avLst>
          </a:prstGeom>
          <a:solidFill>
            <a:srgbClr val="0F172A"/>
          </a:solidFill>
          <a:ln/>
        </p:spPr>
      </p:sp>
      <p:sp>
        <p:nvSpPr>
          <p:cNvPr id="8" name="Text 6"/>
          <p:cNvSpPr/>
          <p:nvPr/>
        </p:nvSpPr>
        <p:spPr>
          <a:xfrm>
            <a:off x="6400800" y="2031938"/>
            <a:ext cx="491845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Greater than 10</a:t>
            </a:r>
            <a:endParaRPr lang="en-US" sz="1300" dirty="0"/>
          </a:p>
        </p:txBody>
      </p:sp>
      <p:sp>
        <p:nvSpPr>
          <p:cNvPr id="9" name="Text 7"/>
          <p:cNvSpPr/>
          <p:nvPr/>
        </p:nvSpPr>
        <p:spPr>
          <a:xfrm>
            <a:off x="6400800" y="2351956"/>
            <a:ext cx="491845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FDE68A"/>
                </a:solidFill>
                <a:latin typeface="Courier New" pitchFamily="49" charset="0"/>
                <a:ea typeface="Courier New" pitchFamily="49" charset="-122"/>
                <a:cs typeface="Courier New" pitchFamily="49" charset="-120"/>
              </a:rPr>
              <a:t>[x for x in arr if x &gt; 10]</a:t>
            </a:r>
            <a:endParaRPr lang="en-US" sz="1300" dirty="0"/>
          </a:p>
          <a:p>
            <a:pPr algn="l" indent="0" marL="0">
              <a:lnSpc>
                <a:spcPts val="1950"/>
              </a:lnSpc>
              <a:buNone/>
            </a:pPr>
            <a:r>
              <a:rPr lang="en-US" sz="1300" dirty="0">
                <a:solidFill>
                  <a:srgbClr val="FDE68A"/>
                </a:solidFill>
                <a:latin typeface="Courier New" pitchFamily="49" charset="0"/>
                <a:ea typeface="Courier New" pitchFamily="49" charset="-122"/>
                <a:cs typeface="Courier New" pitchFamily="49" charset="-120"/>
              </a:rPr>
              <a:t># [5,15,3,20] gives [15, 20]</a:t>
            </a:r>
            <a:endParaRPr lang="en-US" sz="1300" dirty="0"/>
          </a:p>
        </p:txBody>
      </p:sp>
      <p:sp>
        <p:nvSpPr>
          <p:cNvPr id="10" name="Shape 8"/>
          <p:cNvSpPr/>
          <p:nvPr/>
        </p:nvSpPr>
        <p:spPr>
          <a:xfrm>
            <a:off x="812800" y="3240956"/>
            <a:ext cx="10566400" cy="2855053"/>
          </a:xfrm>
          <a:prstGeom prst="roundRect">
            <a:avLst>
              <a:gd name="adj" fmla="val 3559"/>
            </a:avLst>
          </a:prstGeom>
          <a:solidFill>
            <a:srgbClr val="0F172A"/>
          </a:solidFill>
          <a:ln/>
        </p:spPr>
      </p:sp>
      <p:sp>
        <p:nvSpPr>
          <p:cNvPr id="11" name="Text 9"/>
          <p:cNvSpPr/>
          <p:nvPr/>
        </p:nvSpPr>
        <p:spPr>
          <a:xfrm>
            <a:off x="1016000" y="3444156"/>
            <a:ext cx="104648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Words starting with a</a:t>
            </a:r>
            <a:endParaRPr lang="en-US" sz="1300" dirty="0"/>
          </a:p>
        </p:txBody>
      </p:sp>
      <p:sp>
        <p:nvSpPr>
          <p:cNvPr id="12" name="Text 10"/>
          <p:cNvSpPr/>
          <p:nvPr/>
        </p:nvSpPr>
        <p:spPr>
          <a:xfrm>
            <a:off x="1016000" y="3764161"/>
            <a:ext cx="10464800"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DE68A"/>
                </a:solidFill>
                <a:latin typeface="Courier New" pitchFamily="49" charset="0"/>
                <a:ea typeface="Courier New" pitchFamily="49" charset="-122"/>
                <a:cs typeface="Courier New" pitchFamily="49" charset="-120"/>
              </a:rPr>
              <a:t>names = ["apple","banana","ant"]</a:t>
            </a:r>
            <a:endParaRPr lang="en-US" sz="1500" dirty="0"/>
          </a:p>
          <a:p>
            <a:pPr algn="l" indent="0" marL="0">
              <a:lnSpc>
                <a:spcPts val="2250"/>
              </a:lnSpc>
              <a:buNone/>
            </a:pPr>
            <a:r>
              <a:rPr lang="en-US" sz="1500" dirty="0">
                <a:solidFill>
                  <a:srgbClr val="FDE68A"/>
                </a:solidFill>
                <a:latin typeface="Courier New" pitchFamily="49" charset="0"/>
                <a:ea typeface="Courier New" pitchFamily="49" charset="-122"/>
                <a:cs typeface="Courier New" pitchFamily="49" charset="-120"/>
              </a:rPr>
              <a:t>[w for w in names if w[0] == "a"] # ["apple","ant"]</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Text 0"/>
          <p:cNvSpPr/>
          <p:nvPr>
            <p:ph type="title"/>
          </p:nvPr>
        </p:nvSpPr>
        <p:spPr>
          <a:xfrm>
            <a:off x="812800" y="698500"/>
            <a:ext cx="10883392" cy="500327"/>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0F172A"/>
                </a:solidFill>
                <a:latin typeface="Arial" pitchFamily="34" charset="0"/>
                <a:ea typeface="Arial" pitchFamily="34" charset="-122"/>
                <a:cs typeface="Arial" pitchFamily="34" charset="-120"/>
              </a:rPr>
              <a:t>if vs if-else</a:t>
            </a:r>
            <a:endParaRPr lang="en-US" sz="3400" dirty="0"/>
          </a:p>
        </p:txBody>
      </p:sp>
      <p:sp>
        <p:nvSpPr>
          <p:cNvPr id="3" name="Shape 1"/>
          <p:cNvSpPr/>
          <p:nvPr/>
        </p:nvSpPr>
        <p:spPr>
          <a:xfrm>
            <a:off x="812800" y="1363935"/>
            <a:ext cx="5181600" cy="1221714"/>
          </a:xfrm>
          <a:prstGeom prst="roundRect">
            <a:avLst>
              <a:gd name="adj" fmla="val 8316"/>
            </a:avLst>
          </a:prstGeom>
          <a:solidFill>
            <a:srgbClr val="0F172A"/>
          </a:solidFill>
          <a:ln/>
        </p:spPr>
      </p:sp>
      <p:sp>
        <p:nvSpPr>
          <p:cNvPr id="4" name="Text 2"/>
          <p:cNvSpPr/>
          <p:nvPr/>
        </p:nvSpPr>
        <p:spPr>
          <a:xfrm>
            <a:off x="1016000" y="1567135"/>
            <a:ext cx="491845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Only if = filter (at end)</a:t>
            </a:r>
            <a:endParaRPr lang="en-US" sz="1300" dirty="0"/>
          </a:p>
        </p:txBody>
      </p:sp>
      <p:sp>
        <p:nvSpPr>
          <p:cNvPr id="5" name="Text 3"/>
          <p:cNvSpPr/>
          <p:nvPr/>
        </p:nvSpPr>
        <p:spPr>
          <a:xfrm>
            <a:off x="1016000" y="1887141"/>
            <a:ext cx="491845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FDE68A"/>
                </a:solidFill>
                <a:latin typeface="Courier New" pitchFamily="49" charset="0"/>
                <a:ea typeface="Courier New" pitchFamily="49" charset="-122"/>
                <a:cs typeface="Courier New" pitchFamily="49" charset="-120"/>
              </a:rPr>
              <a:t>[x for x in arr if x &gt; 10]</a:t>
            </a:r>
            <a:endParaRPr lang="en-US" sz="1300" dirty="0"/>
          </a:p>
          <a:p>
            <a:pPr algn="l" indent="0" marL="0">
              <a:lnSpc>
                <a:spcPts val="1950"/>
              </a:lnSpc>
              <a:buNone/>
            </a:pPr>
            <a:r>
              <a:rPr lang="en-US" sz="1300" dirty="0">
                <a:solidFill>
                  <a:srgbClr val="FDE68A"/>
                </a:solidFill>
                <a:latin typeface="Courier New" pitchFamily="49" charset="0"/>
                <a:ea typeface="Courier New" pitchFamily="49" charset="-122"/>
                <a:cs typeface="Courier New" pitchFamily="49" charset="-120"/>
              </a:rPr>
              <a:t># [5,15,3,20] gives [15, 20]</a:t>
            </a:r>
            <a:endParaRPr lang="en-US" sz="1300" dirty="0"/>
          </a:p>
        </p:txBody>
      </p:sp>
      <p:sp>
        <p:nvSpPr>
          <p:cNvPr id="6" name="Shape 4"/>
          <p:cNvSpPr/>
          <p:nvPr/>
        </p:nvSpPr>
        <p:spPr>
          <a:xfrm>
            <a:off x="6197600" y="1363935"/>
            <a:ext cx="5181600" cy="1221714"/>
          </a:xfrm>
          <a:prstGeom prst="roundRect">
            <a:avLst>
              <a:gd name="adj" fmla="val 8316"/>
            </a:avLst>
          </a:prstGeom>
          <a:solidFill>
            <a:srgbClr val="0F172A"/>
          </a:solidFill>
          <a:ln/>
        </p:spPr>
      </p:sp>
      <p:sp>
        <p:nvSpPr>
          <p:cNvPr id="7" name="Text 5"/>
          <p:cNvSpPr/>
          <p:nvPr/>
        </p:nvSpPr>
        <p:spPr>
          <a:xfrm>
            <a:off x="6400800" y="1567135"/>
            <a:ext cx="491845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if-else = choose value (at start)</a:t>
            </a:r>
            <a:endParaRPr lang="en-US" sz="1300" dirty="0"/>
          </a:p>
        </p:txBody>
      </p:sp>
      <p:sp>
        <p:nvSpPr>
          <p:cNvPr id="8" name="Text 6"/>
          <p:cNvSpPr/>
          <p:nvPr/>
        </p:nvSpPr>
        <p:spPr>
          <a:xfrm>
            <a:off x="6400800" y="1887141"/>
            <a:ext cx="491845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FDE68A"/>
                </a:solidFill>
                <a:latin typeface="Courier New" pitchFamily="49" charset="0"/>
                <a:ea typeface="Courier New" pitchFamily="49" charset="-122"/>
                <a:cs typeface="Courier New" pitchFamily="49" charset="-120"/>
              </a:rPr>
              <a:t>[x if x &gt; 10 else 0 for x in arr]</a:t>
            </a:r>
            <a:endParaRPr lang="en-US" sz="1300" dirty="0"/>
          </a:p>
          <a:p>
            <a:pPr algn="l" indent="0" marL="0">
              <a:lnSpc>
                <a:spcPts val="1950"/>
              </a:lnSpc>
              <a:buNone/>
            </a:pPr>
            <a:r>
              <a:rPr lang="en-US" sz="1300" dirty="0">
                <a:solidFill>
                  <a:srgbClr val="FDE68A"/>
                </a:solidFill>
                <a:latin typeface="Courier New" pitchFamily="49" charset="0"/>
                <a:ea typeface="Courier New" pitchFamily="49" charset="-122"/>
                <a:cs typeface="Courier New" pitchFamily="49" charset="-120"/>
              </a:rPr>
              <a:t># [5,15,3,20] gives [0,15,0,20]</a:t>
            </a:r>
            <a:endParaRPr lang="en-US" sz="1300" dirty="0"/>
          </a:p>
        </p:txBody>
      </p:sp>
      <p:sp>
        <p:nvSpPr>
          <p:cNvPr id="9" name="Text 7"/>
          <p:cNvSpPr/>
          <p:nvPr/>
        </p:nvSpPr>
        <p:spPr>
          <a:xfrm>
            <a:off x="812800" y="2776141"/>
            <a:ext cx="1088339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776AB"/>
                </a:solidFill>
                <a:latin typeface="Arial" pitchFamily="34" charset="0"/>
                <a:ea typeface="Arial" pitchFamily="34" charset="-122"/>
                <a:cs typeface="Arial" pitchFamily="34" charset="-120"/>
              </a:rPr>
              <a:t>Remember: </a:t>
            </a:r>
            <a:r>
              <a:rPr lang="en-US" sz="1500" b="1" dirty="0">
                <a:solidFill>
                  <a:srgbClr val="3776AB"/>
                </a:solidFill>
                <a:latin typeface="Arial" pitchFamily="34" charset="0"/>
                <a:ea typeface="Arial" pitchFamily="34" charset="-122"/>
                <a:cs typeface="Arial" pitchFamily="34" charset="-120"/>
              </a:rPr>
              <a:t>[value_if_true if condition else value_if_false for x in arr]</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Text 0"/>
          <p:cNvSpPr/>
          <p:nvPr>
            <p:ph type="title"/>
          </p:nvPr>
        </p:nvSpPr>
        <p:spPr>
          <a:xfrm>
            <a:off x="812800" y="698500"/>
            <a:ext cx="10883392" cy="500327"/>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0F172A"/>
                </a:solidFill>
                <a:latin typeface="Arial" pitchFamily="34" charset="0"/>
                <a:ea typeface="Arial" pitchFamily="34" charset="-122"/>
                <a:cs typeface="Arial" pitchFamily="34" charset="-120"/>
              </a:rPr>
              <a:t>More Examples</a:t>
            </a:r>
            <a:endParaRPr lang="en-US" sz="3400" dirty="0"/>
          </a:p>
        </p:txBody>
      </p:sp>
      <p:sp>
        <p:nvSpPr>
          <p:cNvPr id="3" name="Shape 1"/>
          <p:cNvSpPr/>
          <p:nvPr/>
        </p:nvSpPr>
        <p:spPr>
          <a:xfrm>
            <a:off x="812800" y="1363935"/>
            <a:ext cx="5181600" cy="1526514"/>
          </a:xfrm>
          <a:prstGeom prst="roundRect">
            <a:avLst>
              <a:gd name="adj" fmla="val 6656"/>
            </a:avLst>
          </a:prstGeom>
          <a:solidFill>
            <a:srgbClr val="0F172A"/>
          </a:solidFill>
          <a:ln/>
        </p:spPr>
      </p:sp>
      <p:sp>
        <p:nvSpPr>
          <p:cNvPr id="4" name="Text 2"/>
          <p:cNvSpPr/>
          <p:nvPr/>
        </p:nvSpPr>
        <p:spPr>
          <a:xfrm>
            <a:off x="1016000" y="1567135"/>
            <a:ext cx="491845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Strings</a:t>
            </a:r>
            <a:endParaRPr lang="en-US" sz="1300" dirty="0"/>
          </a:p>
        </p:txBody>
      </p:sp>
      <p:sp>
        <p:nvSpPr>
          <p:cNvPr id="5" name="Text 3"/>
          <p:cNvSpPr/>
          <p:nvPr/>
        </p:nvSpPr>
        <p:spPr>
          <a:xfrm>
            <a:off x="1016000" y="1887141"/>
            <a:ext cx="4918456"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DE68A"/>
                </a:solidFill>
                <a:latin typeface="Courier New" pitchFamily="49" charset="0"/>
                <a:ea typeface="Courier New" pitchFamily="49" charset="-122"/>
                <a:cs typeface="Courier New" pitchFamily="49" charset="-120"/>
              </a:rPr>
              <a:t>names = ["ram","shyam"]</a:t>
            </a:r>
            <a:endParaRPr lang="en-US" sz="1400" dirty="0"/>
          </a:p>
          <a:p>
            <a:pPr algn="l" indent="0" marL="0">
              <a:lnSpc>
                <a:spcPts val="2100"/>
              </a:lnSpc>
              <a:buNone/>
            </a:pPr>
            <a:r>
              <a:rPr lang="en-US" sz="1400" dirty="0">
                <a:solidFill>
                  <a:srgbClr val="FDE68A"/>
                </a:solidFill>
                <a:latin typeface="Courier New" pitchFamily="49" charset="0"/>
                <a:ea typeface="Courier New" pitchFamily="49" charset="-122"/>
                <a:cs typeface="Courier New" pitchFamily="49" charset="-120"/>
              </a:rPr>
              <a:t>[n.upper() for n in names]</a:t>
            </a:r>
            <a:endParaRPr lang="en-US" sz="1400" dirty="0"/>
          </a:p>
          <a:p>
            <a:pPr algn="l" indent="0" marL="0">
              <a:lnSpc>
                <a:spcPts val="2100"/>
              </a:lnSpc>
              <a:buNone/>
            </a:pPr>
            <a:r>
              <a:rPr lang="en-US" sz="1400" dirty="0">
                <a:solidFill>
                  <a:srgbClr val="FDE68A"/>
                </a:solidFill>
                <a:latin typeface="Courier New" pitchFamily="49" charset="0"/>
                <a:ea typeface="Courier New" pitchFamily="49" charset="-122"/>
                <a:cs typeface="Courier New" pitchFamily="49" charset="-120"/>
              </a:rPr>
              <a:t># ["RAM", "SHYAM"]</a:t>
            </a:r>
            <a:endParaRPr lang="en-US" sz="1400" dirty="0"/>
          </a:p>
        </p:txBody>
      </p:sp>
      <p:sp>
        <p:nvSpPr>
          <p:cNvPr id="6" name="Shape 4"/>
          <p:cNvSpPr/>
          <p:nvPr/>
        </p:nvSpPr>
        <p:spPr>
          <a:xfrm>
            <a:off x="6197600" y="1363935"/>
            <a:ext cx="5181600" cy="1526514"/>
          </a:xfrm>
          <a:prstGeom prst="roundRect">
            <a:avLst>
              <a:gd name="adj" fmla="val 6656"/>
            </a:avLst>
          </a:prstGeom>
          <a:solidFill>
            <a:srgbClr val="0F172A"/>
          </a:solidFill>
          <a:ln/>
        </p:spPr>
      </p:sp>
      <p:sp>
        <p:nvSpPr>
          <p:cNvPr id="7" name="Text 5"/>
          <p:cNvSpPr/>
          <p:nvPr/>
        </p:nvSpPr>
        <p:spPr>
          <a:xfrm>
            <a:off x="6400800" y="1567135"/>
            <a:ext cx="491845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Table of 5</a:t>
            </a:r>
            <a:endParaRPr lang="en-US" sz="1300" dirty="0"/>
          </a:p>
        </p:txBody>
      </p:sp>
      <p:sp>
        <p:nvSpPr>
          <p:cNvPr id="8" name="Text 6"/>
          <p:cNvSpPr/>
          <p:nvPr/>
        </p:nvSpPr>
        <p:spPr>
          <a:xfrm>
            <a:off x="6400800" y="1887141"/>
            <a:ext cx="4918456"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DE68A"/>
                </a:solidFill>
                <a:latin typeface="Courier New" pitchFamily="49" charset="0"/>
                <a:ea typeface="Courier New" pitchFamily="49" charset="-122"/>
                <a:cs typeface="Courier New" pitchFamily="49" charset="-120"/>
              </a:rPr>
              <a:t>[5 * x for x in range(1, 11)]</a:t>
            </a:r>
            <a:endParaRPr lang="en-US" sz="1400" dirty="0"/>
          </a:p>
          <a:p>
            <a:pPr algn="l" indent="0" marL="0">
              <a:lnSpc>
                <a:spcPts val="2100"/>
              </a:lnSpc>
              <a:buNone/>
            </a:pPr>
            <a:r>
              <a:rPr lang="en-US" sz="1400" dirty="0">
                <a:solidFill>
                  <a:srgbClr val="FDE68A"/>
                </a:solidFill>
                <a:latin typeface="Courier New" pitchFamily="49" charset="0"/>
                <a:ea typeface="Courier New" pitchFamily="49" charset="-122"/>
                <a:cs typeface="Courier New" pitchFamily="49" charset="-120"/>
              </a:rPr>
              <a:t># [5, 10, 15, ... 50]</a:t>
            </a:r>
            <a:endParaRPr lang="en-US" sz="1400" dirty="0"/>
          </a:p>
        </p:txBody>
      </p:sp>
      <p:sp>
        <p:nvSpPr>
          <p:cNvPr id="9" name="Shape 7"/>
          <p:cNvSpPr/>
          <p:nvPr/>
        </p:nvSpPr>
        <p:spPr>
          <a:xfrm>
            <a:off x="812800" y="3080941"/>
            <a:ext cx="10566400" cy="3015059"/>
          </a:xfrm>
          <a:prstGeom prst="roundRect">
            <a:avLst>
              <a:gd name="adj" fmla="val 3370"/>
            </a:avLst>
          </a:prstGeom>
          <a:solidFill>
            <a:srgbClr val="0F172A"/>
          </a:solidFill>
          <a:ln/>
        </p:spPr>
      </p:sp>
      <p:sp>
        <p:nvSpPr>
          <p:cNvPr id="10" name="Text 8"/>
          <p:cNvSpPr/>
          <p:nvPr/>
        </p:nvSpPr>
        <p:spPr>
          <a:xfrm>
            <a:off x="1016000" y="3284141"/>
            <a:ext cx="104648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3C5FD"/>
                </a:solidFill>
                <a:latin typeface="Arial" pitchFamily="34" charset="0"/>
                <a:ea typeface="Arial" pitchFamily="34" charset="-122"/>
                <a:cs typeface="Arial" pitchFamily="34" charset="-120"/>
              </a:rPr>
              <a:t>Nested (flatten)</a:t>
            </a:r>
            <a:endParaRPr lang="en-US" sz="1300" dirty="0"/>
          </a:p>
        </p:txBody>
      </p:sp>
      <p:sp>
        <p:nvSpPr>
          <p:cNvPr id="11" name="Text 9"/>
          <p:cNvSpPr/>
          <p:nvPr/>
        </p:nvSpPr>
        <p:spPr>
          <a:xfrm>
            <a:off x="1016000" y="3604158"/>
            <a:ext cx="10464800"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DE68A"/>
                </a:solidFill>
                <a:latin typeface="Courier New" pitchFamily="49" charset="0"/>
                <a:ea typeface="Courier New" pitchFamily="49" charset="-122"/>
                <a:cs typeface="Courier New" pitchFamily="49" charset="-120"/>
              </a:rPr>
              <a:t>[x for row in [[1,2],[3,4]] for x in row] # [1, 2, 3, 4]</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Text 0"/>
          <p:cNvSpPr/>
          <p:nvPr>
            <p:ph type="title"/>
          </p:nvPr>
        </p:nvSpPr>
        <p:spPr>
          <a:xfrm>
            <a:off x="812800" y="698500"/>
            <a:ext cx="10883392" cy="500327"/>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0F172A"/>
                </a:solidFill>
                <a:latin typeface="Arial" pitchFamily="34" charset="0"/>
                <a:ea typeface="Arial" pitchFamily="34" charset="-122"/>
                <a:cs typeface="Arial" pitchFamily="34" charset="-120"/>
              </a:rPr>
              <a:t>10 Interview Questions</a:t>
            </a:r>
            <a:endParaRPr lang="en-US" sz="3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376635"/>
          <a:ext cx="10553700" cy="4665398"/>
        </p:xfrm>
        <a:graphic>
          <a:graphicData uri="http://schemas.openxmlformats.org/drawingml/2006/table">
            <a:tbl>
              <a:tblPr/>
              <a:tblGrid>
                <a:gridCol w="5276850"/>
                <a:gridCol w="5276850"/>
              </a:tblGrid>
              <a:tr h="424127">
                <a:tc>
                  <a:txBody>
                    <a:bodyPr/>
                    <a:lstStyle/>
                    <a:p>
                      <a:pPr indent="0" marL="0">
                        <a:lnSpc>
                          <a:spcPts val="2240"/>
                        </a:lnSpc>
                        <a:buNone/>
                      </a:pPr>
                      <a:r>
                        <a:rPr lang="en-US" sz="1600" b="1" dirty="0">
                          <a:solidFill>
                            <a:srgbClr val="FFFFFF"/>
                          </a:solidFill>
                          <a:latin typeface="Arial" pitchFamily="34" charset="0"/>
                          <a:ea typeface="Arial" pitchFamily="34" charset="-122"/>
                          <a:cs typeface="Arial" pitchFamily="34" charset="-120"/>
                        </a:rPr>
                        <a:t>Question</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B8B9BA"/>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B8B9BA"/>
                      </a:solidFill>
                      <a:prstDash val="solid"/>
                      <a:round/>
                      <a:headEnd type="none" w="med" len="med"/>
                      <a:tailEnd type="none" w="med" len="med"/>
                    </a:lnB>
                    <a:solidFill>
                      <a:srgbClr val="E6E8E9"/>
                    </a:solidFill>
                  </a:tcPr>
                </a:tc>
                <a:tc>
                  <a:txBody>
                    <a:bodyPr/>
                    <a:lstStyle/>
                    <a:p>
                      <a:pPr indent="0" marL="0">
                        <a:lnSpc>
                          <a:spcPts val="2240"/>
                        </a:lnSpc>
                        <a:buNone/>
                      </a:pPr>
                      <a:r>
                        <a:rPr lang="en-US" sz="1600" b="1" dirty="0">
                          <a:solidFill>
                            <a:srgbClr val="FFFFFF"/>
                          </a:solidFill>
                          <a:latin typeface="Arial" pitchFamily="34" charset="0"/>
                          <a:ea typeface="Arial" pitchFamily="34" charset="-122"/>
                          <a:cs typeface="Arial" pitchFamily="34" charset="-120"/>
                        </a:rPr>
                        <a:t>Short answer</a:t>
                      </a:r>
                      <a:endParaRPr lang="en-US" sz="1600" dirty="0">
                        <a:latin typeface="Arial" charset="0"/>
                        <a:ea typeface="Arial" charset="0"/>
                        <a:cs typeface="Arial" charset="0"/>
                      </a:endParaRPr>
                    </a:p>
                  </a:txBody>
                  <a:tcPr marL="88900" marR="88900" marT="63500" marB="63500" anchor="t">
                    <a:lnL w="12700" cap="flat" cmpd="sng" algn="ctr">
                      <a:solidFill>
                        <a:srgbClr val="B8B9BA"/>
                      </a:solidFill>
                      <a:prstDash val="solid"/>
                      <a:round/>
                      <a:headEnd type="none" w="med" len="med"/>
                      <a:tailEnd type="none" w="med" len="med"/>
                    </a:lnL>
                    <a:lnR w="12700" cap="flat" cmpd="sng" algn="ctr">
                      <a:solidFill>
                        <a:srgbClr val="B8B9BA"/>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B8B9BA"/>
                      </a:solidFill>
                      <a:prstDash val="solid"/>
                      <a:round/>
                      <a:headEnd type="none" w="med" len="med"/>
                      <a:tailEnd type="none" w="med" len="med"/>
                    </a:lnB>
                    <a:solidFill>
                      <a:srgbClr val="E6E8E9"/>
                    </a:solidFill>
                  </a:tcPr>
                </a:tc>
              </a:tr>
              <a:tr h="424127">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List vs tuple?</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B8B9BA"/>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List is mutable, tuple is not</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B8B9BA"/>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r>
              <a:tr h="424127">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append() vs extend()?</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One item vs many items</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r>
              <a:tr h="424127">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sort() vs sorted()?</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In place vs new list</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r>
              <a:tr h="424127">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remove() vs pop() vs del?</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By value / by index / index or slice</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r>
              <a:tr h="424127">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What is a shallow copy?</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New outer list, shared inner items</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r>
              <a:tr h="424127">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Output of [1, 2] * 2?</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[1, 2, 1, 2]</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r>
              <a:tr h="424127">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List vs array?</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List: mixed types, array: one type</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r>
              <a:tr h="424127">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Time of append()?</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O(1) amortized</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r>
              <a:tr h="424127">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Why avoid [[0]*3]*3?</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All rows share the same list</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r>
              <a:tr h="424127">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What is list comprehension?</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c>
                  <a:txBody>
                    <a:bodyPr/>
                    <a:lstStyle/>
                    <a:p>
                      <a:pPr indent="0" marL="0">
                        <a:lnSpc>
                          <a:spcPts val="2240"/>
                        </a:lnSpc>
                        <a:buNone/>
                      </a:pPr>
                      <a:r>
                        <a:rPr lang="en-US" sz="1600" dirty="0">
                          <a:solidFill>
                            <a:srgbClr val="0F172A"/>
                          </a:solidFill>
                          <a:latin typeface="Arial" pitchFamily="34" charset="0"/>
                          <a:ea typeface="Arial" pitchFamily="34" charset="-122"/>
                          <a:cs typeface="Arial" pitchFamily="34" charset="-120"/>
                        </a:rPr>
                        <a:t>One-line way to build a list</a:t>
                      </a:r>
                      <a:endParaRPr lang="en-US" sz="1600" dirty="0">
                        <a:latin typeface="Arial" charset="0"/>
                        <a:ea typeface="Arial" charset="0"/>
                        <a:cs typeface="Arial" charset="0"/>
                      </a:endParaRPr>
                    </a:p>
                  </a:txBody>
                  <a:tcPr marL="88900" marR="88900" marT="63500" marB="63500" anchor="t">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6C7C9"/>
                      </a:solidFill>
                      <a:prstDash val="solid"/>
                      <a:round/>
                      <a:headEnd type="none" w="med" len="med"/>
                      <a:tailEnd type="none" w="med" len="med"/>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72A"/>
        </a:solidFill>
      </p:bgPr>
    </p:bg>
    <p:spTree>
      <p:nvGrpSpPr>
        <p:cNvPr id="1" name=""/>
        <p:cNvGrpSpPr/>
        <p:nvPr/>
      </p:nvGrpSpPr>
      <p:grpSpPr>
        <a:xfrm>
          <a:off x="0" y="0"/>
          <a:ext cx="0" cy="0"/>
          <a:chOff x="0" y="0"/>
          <a:chExt cx="0" cy="0"/>
        </a:xfrm>
      </p:grpSpPr>
      <p:sp>
        <p:nvSpPr>
          <p:cNvPr id="2" name="Text 0"/>
          <p:cNvSpPr/>
          <p:nvPr>
            <p:ph type="title"/>
          </p:nvPr>
        </p:nvSpPr>
        <p:spPr>
          <a:xfrm>
            <a:off x="2653903" y="2167930"/>
            <a:ext cx="6884194" cy="1168400"/>
          </a:xfrm>
          <a:prstGeom prst="rect">
            <a:avLst/>
          </a:prstGeom>
          <a:noFill/>
          <a:ln/>
        </p:spPr>
        <p:txBody>
          <a:bodyPr wrap="square" lIns="0" tIns="0" rIns="0" bIns="0" rtlCol="0" anchor="t">
            <a:normAutofit/>
          </a:bodyPr>
          <a:lstStyle/>
          <a:p>
            <a:pPr algn="ctr" indent="0" marL="0">
              <a:lnSpc>
                <a:spcPts val="9000"/>
              </a:lnSpc>
              <a:buNone/>
            </a:pPr>
            <a:r>
              <a:rPr lang="en-US" sz="9000" b="1" i="0" dirty="0">
                <a:solidFill>
                  <a:srgbClr val="F8FAFC"/>
                </a:solidFill>
                <a:latin typeface="Arial" pitchFamily="34" charset="0"/>
                <a:ea typeface="Arial" pitchFamily="34" charset="-122"/>
                <a:cs typeface="Arial" pitchFamily="34" charset="-120"/>
              </a:rPr>
              <a:t>Thank You</a:t>
            </a:r>
            <a:endParaRPr lang="en-US" sz="9000" dirty="0"/>
          </a:p>
        </p:txBody>
      </p:sp>
      <p:sp>
        <p:nvSpPr>
          <p:cNvPr id="3" name="Text 1"/>
          <p:cNvSpPr/>
          <p:nvPr/>
        </p:nvSpPr>
        <p:spPr>
          <a:xfrm>
            <a:off x="4949666" y="3564930"/>
            <a:ext cx="2292667" cy="416520"/>
          </a:xfrm>
          <a:prstGeom prst="rect">
            <a:avLst/>
          </a:prstGeom>
          <a:noFill/>
          <a:ln/>
        </p:spPr>
        <p:txBody>
          <a:bodyPr wrap="square" lIns="0" tIns="0" rIns="0" bIns="0" rtlCol="0" anchor="t">
            <a:normAutofit/>
          </a:bodyPr>
          <a:lstStyle/>
          <a:p>
            <a:pPr algn="ctr" indent="0" marL="0">
              <a:lnSpc>
                <a:spcPts val="3080"/>
              </a:lnSpc>
              <a:buNone/>
            </a:pPr>
            <a:r>
              <a:rPr lang="en-US" sz="2200" dirty="0">
                <a:solidFill>
                  <a:srgbClr val="FFD43B"/>
                </a:solidFill>
                <a:latin typeface="Arial" pitchFamily="34" charset="0"/>
                <a:ea typeface="Arial" pitchFamily="34" charset="-122"/>
                <a:cs typeface="Arial" pitchFamily="34" charset="-120"/>
              </a:rPr>
              <a:t>Any questions?</a:t>
            </a:r>
            <a:endParaRPr lang="en-US" sz="2200" dirty="0"/>
          </a:p>
        </p:txBody>
      </p:sp>
      <p:sp>
        <p:nvSpPr>
          <p:cNvPr id="4" name="Text 2"/>
          <p:cNvSpPr/>
          <p:nvPr/>
        </p:nvSpPr>
        <p:spPr>
          <a:xfrm>
            <a:off x="1110919" y="4210050"/>
            <a:ext cx="2313384" cy="480020"/>
          </a:xfrm>
          <a:prstGeom prst="roundRect">
            <a:avLst>
              <a:gd name="adj" fmla="val 50000"/>
            </a:avLst>
          </a:prstGeom>
          <a:solidFill>
            <a:srgbClr val="1E293B"/>
          </a:solidFill>
          <a:ln/>
        </p:spPr>
        <p:txBody>
          <a:bodyPr wrap="none" lIns="0" tIns="0" rIns="0" bIns="0" rtlCol="0" anchor="ctr">
            <a:normAutofit/>
          </a:bodyPr>
          <a:lstStyle/>
          <a:p>
            <a:pPr algn="ctr" indent="0" marL="0">
              <a:lnSpc>
                <a:spcPts val="2380"/>
              </a:lnSpc>
              <a:buNone/>
            </a:pPr>
            <a:r>
              <a:rPr lang="en-US" sz="1700" dirty="0">
                <a:solidFill>
                  <a:srgbClr val="F8FAFC"/>
                </a:solidFill>
                <a:latin typeface="Arial" pitchFamily="34" charset="0"/>
                <a:ea typeface="Arial" pitchFamily="34" charset="-122"/>
                <a:cs typeface="Arial" pitchFamily="34" charset="-120"/>
              </a:rPr>
              <a:t>Anuradha Shivastav</a:t>
            </a:r>
            <a:endParaRPr lang="en-US" sz="1700" dirty="0"/>
          </a:p>
        </p:txBody>
      </p:sp>
      <p:sp>
        <p:nvSpPr>
          <p:cNvPr id="5" name="Text 3"/>
          <p:cNvSpPr/>
          <p:nvPr/>
        </p:nvSpPr>
        <p:spPr>
          <a:xfrm>
            <a:off x="3551304" y="4210050"/>
            <a:ext cx="1789642" cy="480020"/>
          </a:xfrm>
          <a:prstGeom prst="roundRect">
            <a:avLst>
              <a:gd name="adj" fmla="val 50000"/>
            </a:avLst>
          </a:prstGeom>
          <a:solidFill>
            <a:srgbClr val="1E293B"/>
          </a:solidFill>
          <a:ln/>
        </p:spPr>
        <p:txBody>
          <a:bodyPr wrap="none" lIns="0" tIns="0" rIns="0" bIns="0" rtlCol="0" anchor="ctr">
            <a:normAutofit/>
          </a:bodyPr>
          <a:lstStyle/>
          <a:p>
            <a:pPr algn="ctr" indent="0" marL="0">
              <a:lnSpc>
                <a:spcPts val="2380"/>
              </a:lnSpc>
              <a:buNone/>
            </a:pPr>
            <a:r>
              <a:rPr lang="en-US" sz="1700" dirty="0">
                <a:solidFill>
                  <a:srgbClr val="F8FAFC"/>
                </a:solidFill>
                <a:latin typeface="Arial" pitchFamily="34" charset="0"/>
                <a:ea typeface="Arial" pitchFamily="34" charset="-122"/>
                <a:cs typeface="Arial" pitchFamily="34" charset="-120"/>
              </a:rPr>
              <a:t>Yogita Chohan</a:t>
            </a:r>
            <a:endParaRPr lang="en-US" sz="1700" dirty="0"/>
          </a:p>
        </p:txBody>
      </p:sp>
      <p:sp>
        <p:nvSpPr>
          <p:cNvPr id="6" name="Text 4"/>
          <p:cNvSpPr/>
          <p:nvPr/>
        </p:nvSpPr>
        <p:spPr>
          <a:xfrm>
            <a:off x="5467945" y="4210050"/>
            <a:ext cx="1793214" cy="480020"/>
          </a:xfrm>
          <a:prstGeom prst="roundRect">
            <a:avLst>
              <a:gd name="adj" fmla="val 50000"/>
            </a:avLst>
          </a:prstGeom>
          <a:solidFill>
            <a:srgbClr val="1E293B"/>
          </a:solidFill>
          <a:ln/>
        </p:spPr>
        <p:txBody>
          <a:bodyPr wrap="none" lIns="0" tIns="0" rIns="0" bIns="0" rtlCol="0" anchor="ctr">
            <a:normAutofit/>
          </a:bodyPr>
          <a:lstStyle/>
          <a:p>
            <a:pPr algn="ctr" indent="0" marL="0">
              <a:lnSpc>
                <a:spcPts val="2380"/>
              </a:lnSpc>
              <a:buNone/>
            </a:pPr>
            <a:r>
              <a:rPr lang="en-US" sz="1700" dirty="0">
                <a:solidFill>
                  <a:srgbClr val="F8FAFC"/>
                </a:solidFill>
                <a:latin typeface="Arial" pitchFamily="34" charset="0"/>
                <a:ea typeface="Arial" pitchFamily="34" charset="-122"/>
                <a:cs typeface="Arial" pitchFamily="34" charset="-120"/>
              </a:rPr>
              <a:t>Kashish Visnoi</a:t>
            </a:r>
            <a:endParaRPr lang="en-US" sz="1700" dirty="0"/>
          </a:p>
        </p:txBody>
      </p:sp>
      <p:sp>
        <p:nvSpPr>
          <p:cNvPr id="7" name="Text 5"/>
          <p:cNvSpPr/>
          <p:nvPr/>
        </p:nvSpPr>
        <p:spPr>
          <a:xfrm>
            <a:off x="7388159" y="4210050"/>
            <a:ext cx="1937015" cy="480020"/>
          </a:xfrm>
          <a:prstGeom prst="roundRect">
            <a:avLst>
              <a:gd name="adj" fmla="val 50000"/>
            </a:avLst>
          </a:prstGeom>
          <a:solidFill>
            <a:srgbClr val="1E293B"/>
          </a:solidFill>
          <a:ln/>
        </p:spPr>
        <p:txBody>
          <a:bodyPr wrap="none" lIns="0" tIns="0" rIns="0" bIns="0" rtlCol="0" anchor="ctr">
            <a:normAutofit/>
          </a:bodyPr>
          <a:lstStyle/>
          <a:p>
            <a:pPr algn="ctr" indent="0" marL="0">
              <a:lnSpc>
                <a:spcPts val="2380"/>
              </a:lnSpc>
              <a:buNone/>
            </a:pPr>
            <a:r>
              <a:rPr lang="en-US" sz="1700" dirty="0">
                <a:solidFill>
                  <a:srgbClr val="F8FAFC"/>
                </a:solidFill>
                <a:latin typeface="Arial" pitchFamily="34" charset="0"/>
                <a:ea typeface="Arial" pitchFamily="34" charset="-122"/>
                <a:cs typeface="Arial" pitchFamily="34" charset="-120"/>
              </a:rPr>
              <a:t>Rudraksh Tawar</a:t>
            </a:r>
            <a:endParaRPr lang="en-US" sz="1700" dirty="0"/>
          </a:p>
        </p:txBody>
      </p:sp>
      <p:sp>
        <p:nvSpPr>
          <p:cNvPr id="8" name="Text 6"/>
          <p:cNvSpPr/>
          <p:nvPr/>
        </p:nvSpPr>
        <p:spPr>
          <a:xfrm>
            <a:off x="9452173" y="4210050"/>
            <a:ext cx="1628907" cy="480020"/>
          </a:xfrm>
          <a:prstGeom prst="roundRect">
            <a:avLst>
              <a:gd name="adj" fmla="val 50000"/>
            </a:avLst>
          </a:prstGeom>
          <a:solidFill>
            <a:srgbClr val="1E293B"/>
          </a:solidFill>
          <a:ln/>
        </p:spPr>
        <p:txBody>
          <a:bodyPr wrap="none" lIns="0" tIns="0" rIns="0" bIns="0" rtlCol="0" anchor="ctr">
            <a:normAutofit/>
          </a:bodyPr>
          <a:lstStyle/>
          <a:p>
            <a:pPr algn="ctr" indent="0" marL="0">
              <a:lnSpc>
                <a:spcPts val="2380"/>
              </a:lnSpc>
              <a:buNone/>
            </a:pPr>
            <a:r>
              <a:rPr lang="en-US" sz="1700" dirty="0">
                <a:solidFill>
                  <a:srgbClr val="F8FAFC"/>
                </a:solidFill>
                <a:latin typeface="Arial" pitchFamily="34" charset="0"/>
                <a:ea typeface="Arial" pitchFamily="34" charset="-122"/>
                <a:cs typeface="Arial" pitchFamily="34" charset="-120"/>
              </a:rPr>
              <a:t>Hariom Patel</a:t>
            </a:r>
            <a:endParaRPr lang="en-US" sz="1700" dirty="0"/>
          </a:p>
        </p:txBody>
      </p:sp>
    </p:spTree>
  </p:cSld>
  <p:clrMapOvr>
    <a:masterClrMapping/>
  </p:clrMapOvr>
</p:sld>
</file>

<file path=ppt/theme/theme1.xml><?xml version="1.0" encoding="utf-8"?>
<a:theme xmlns:a="http://schemas.openxmlformats.org/drawingml/2006/main" name="Python List Presentation">
  <a:themeElements>
    <a:clrScheme name="Python List Presentation">
      <a:dk1>
        <a:srgbClr val="0F172A"/>
      </a:dk1>
      <a:lt1>
        <a:srgbClr val="F8FAFC"/>
      </a:lt1>
      <a:dk2>
        <a:srgbClr val="49505F"/>
      </a:dk2>
      <a:lt2>
        <a:srgbClr val="E1E3E7"/>
      </a:lt2>
      <a:accent1>
        <a:srgbClr val="FDE68A"/>
      </a:accent1>
      <a:accent2>
        <a:srgbClr val="3776AB"/>
      </a:accent2>
      <a:accent3>
        <a:srgbClr val="93C5FD"/>
      </a:accent3>
      <a:accent4>
        <a:srgbClr val="FFD43B"/>
      </a:accent4>
      <a:accent5>
        <a:srgbClr val="DBEAFE"/>
      </a:accent5>
      <a:accent6>
        <a:srgbClr val="475569"/>
      </a:accent6>
      <a:hlink>
        <a:srgbClr val="0563C1"/>
      </a:hlink>
      <a:folHlink>
        <a:srgbClr val="954F72"/>
      </a:folHlink>
    </a:clrScheme>
    <a:fontScheme name="Python List Presentati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List Presentation</dc:title>
  <dc:subject/>
  <dc:creator/>
  <cp:lastModifiedBy/>
  <cp:revision>1</cp:revision>
  <dcterms:created xsi:type="dcterms:W3CDTF">2026-10-08T12:50:11Z</dcterms:created>
  <dcterms:modified xsi:type="dcterms:W3CDTF">2026-10-08T12:50:11Z</dcterms:modified>
</cp:coreProperties>
</file>